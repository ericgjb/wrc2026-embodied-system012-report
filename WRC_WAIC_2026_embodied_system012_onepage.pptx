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" y="73152"/>
            <a:ext cx="896112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Microsoft YaHei UI"/>
              </a:rPr>
              <a:t>WRC/WAIC 2026 机器人“大脑”部署方式与模型硬数据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9456" y="384048"/>
            <a:ext cx="9966960" cy="1463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40" b="0">
                <a:solidFill>
                  <a:srgbClr val="000000"/>
                </a:solidFill>
                <a:latin typeface="Microsoft YaHei UI"/>
              </a:rPr>
              <a:t>表内为代表样本；部署占比按报告末尾 22 家/项目扩展样本统计，算力趋势参考 NVIDIA Thor/Jetson 等平台。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592" y="621792"/>
          <a:ext cx="11868912" cy="5248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060704"/>
                <a:gridCol w="2980944"/>
                <a:gridCol w="1664208"/>
                <a:gridCol w="2779776"/>
                <a:gridCol w="1773936"/>
              </a:tblGrid>
              <a:tr h="310896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85" b="1">
                          <a:solidFill>
                            <a:srgbClr val="000000"/>
                          </a:solidFill>
                          <a:latin typeface="Microsoft YaHei UI"/>
                        </a:rPr>
                        <a:t>部署方式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85" b="1">
                          <a:solidFill>
                            <a:srgbClr val="000000"/>
                          </a:solidFill>
                          <a:latin typeface="Microsoft YaHei UI"/>
                        </a:rPr>
                        <a:t>玩家/项目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85" b="1">
                          <a:solidFill>
                            <a:srgbClr val="000000"/>
                          </a:solidFill>
                          <a:latin typeface="Microsoft YaHei UI"/>
                        </a:rPr>
                        <a:t>大脑模型、架构和参数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85" b="1">
                          <a:solidFill>
                            <a:srgbClr val="000000"/>
                          </a:solidFill>
                          <a:latin typeface="Microsoft YaHei UI"/>
                        </a:rPr>
                        <a:t>小脑模型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85" b="1">
                          <a:solidFill>
                            <a:srgbClr val="000000"/>
                          </a:solidFill>
                          <a:latin typeface="Microsoft YaHei UI"/>
                        </a:rPr>
                        <a:t>算力与部署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85" b="1">
                          <a:solidFill>
                            <a:srgbClr val="000000"/>
                          </a:solidFill>
                          <a:latin typeface="Microsoft YaHei UI"/>
                        </a:rPr>
                        <a:t>推理频率/延迟</a:t>
                      </a:r>
                    </a:p>
                  </a:txBody>
                  <a:tcPr anchor="ctr" marL="32004" marR="32004" marT="10972" marB="10972">
                    <a:solidFill>
                      <a:srgbClr val="E0E7EE"/>
                    </a:solidFill>
                    <a:lnL w="3600">
                      <a:solidFill>
                        <a:srgbClr val="AEBBC8"/>
                      </a:solidFill>
                    </a:lnL>
                    <a:lnR w="3600">
                      <a:solidFill>
                        <a:srgbClr val="AEBBC8"/>
                      </a:solidFill>
                    </a:lnR>
                    <a:lnT w="3600">
                      <a:solidFill>
                        <a:srgbClr val="AEBBC8"/>
                      </a:solidFill>
                    </a:lnT>
                    <a:lnB w="3600">
                      <a:solidFill>
                        <a:srgbClr val="AEBBC8"/>
                      </a:solidFill>
                    </a:lnB>
                  </a:tcPr>
                </a:tc>
              </a:tr>
              <a:tr h="379827">
                <a:tc rowSpan="5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65" b="0">
                          <a:solidFill>
                            <a:srgbClr val="000000"/>
                          </a:solidFill>
                          <a:latin typeface="Microsoft YaHei UI"/>
                        </a:rPr>
                        <a:t>纯端侧/本体端侧：模型或智脑设备主要在本体运行。优点是离线可用、低时延和数据不出端；缺点是受功耗、显存和散热约束。扩展样本 5/22，占 22.7%。</a:t>
                      </a:r>
                    </a:p>
                  </a:txBody>
                  <a:tcPr anchor="ctr" marL="32004" marR="32004" marT="10972" marB="10972">
                    <a:solidFill>
                      <a:srgbClr val="ECF2F7"/>
                    </a:solidFill>
                    <a:lnL w="3200">
                      <a:solidFill>
                        <a:srgbClr val="AAB8C6"/>
                      </a:solidFill>
                    </a:lnL>
                    <a:lnR w="3200">
                      <a:solidFill>
                        <a:srgbClr val="AAB8C6"/>
                      </a:solidFill>
                    </a:lnR>
                    <a:lnT w="3200">
                      <a:solidFill>
                        <a:srgbClr val="AAB8C6"/>
                      </a:solidFill>
                    </a:lnT>
                    <a:lnB w="3200">
                      <a:solidFill>
                        <a:srgbClr val="AAB8C6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蚂蚁灵波 Robbyant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LingBot-VLA 2.0 是 6B VLA，采用 Sparse MoE Action Expert；LingBot-VA 2.0 是约 5B DiT 世界动作模型，LingBot-Vision 为 1B，LingBot-World 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LingBot-VLA 2.0 在 RTX 4090D 本地推理；LingBot-VA 需要约 18-24GB VRAM；LingBot-Depth 提供 edge-side SDK。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LingBot-VLA 2.0 单次推理约 130ms；LingBot-World 2.0 标称 720p/60fps，控制延迟低于 1s。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MiniCPM-Robot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MiniCPM-RobotManip 是 1.5B 通用操作 VLA，MiniCPM-RobotTrack 是 0.9B 目标跟踪 VLA。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RobotManip 可在 H100/H20 推理，RobotTrack 可部署在 Jetson Orin NX 16GB。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H100 BF16 单帧前向 120ms；H20 推理从 10Hz 提升至 37Hz；Go2 本地跟踪 5+FPS、约 180ms。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地瓜机器人/它石智航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RDK S600 已适配 3B 参数级具身大模型，模型名称未公开。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RDK S600 提供 560 TOPS INT8、32/64GB LPDDR5 和 204.8GB/s 内存带宽。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星海图 Galaxea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G0.5 是自回归 VLA，基于 Qwen3.5 2B 初始化；Fast-WAM/GigaWorld-Policy-0.5 是世界动作模型，模型总参数未公开。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星海图披露高性能运动小脑和全身控制基础模型，但未公开参数。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R1 Lite 原生支持端侧模型部署；Nexo 700 TOPS 为 WRC 会场口径，待公开链接。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Fast-WAM 单步约 190ms；GigaWorld-Policy-0.5 在 A100 为 189ms、RTX 4090 为 110ms、C++ 部署为 85ms。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蔚蓝智能 BabyAlpha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BabyAlpha A3 本地运行 7B 交互大模型，用于对话和环境识别。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BabyAlpha A3 本地端侧运行，芯片型号未公开。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rowSpan="5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65" b="0">
                          <a:solidFill>
                            <a:srgbClr val="000000"/>
                          </a:solidFill>
                          <a:latin typeface="Microsoft YaHei UI"/>
                        </a:rPr>
                        <a:t>端云协同/可切换：端侧处理快反应或离线兜底，云侧处理慢推理和调度。优点是兼顾低时延与强模型；缺点是依赖网络和系统编排。扩展样本 6/22，占 27.3%。</a:t>
                      </a:r>
                    </a:p>
                  </a:txBody>
                  <a:tcPr anchor="ctr" marL="32004" marR="32004" marT="10972" marB="10972">
                    <a:solidFill>
                      <a:srgbClr val="ECF2F7"/>
                    </a:solidFill>
                    <a:lnL w="3200">
                      <a:solidFill>
                        <a:srgbClr val="AAB8C6"/>
                      </a:solidFill>
                    </a:lnL>
                    <a:lnR w="3200">
                      <a:solidFill>
                        <a:srgbClr val="AAB8C6"/>
                      </a:solidFill>
                    </a:lnR>
                    <a:lnT w="3200">
                      <a:solidFill>
                        <a:srgbClr val="AAB8C6"/>
                      </a:solidFill>
                    </a:lnT>
                    <a:lnB w="3200">
                      <a:solidFill>
                        <a:srgbClr val="AAB8C6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科大讯飞/灵境智源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讯飞机器人大脑采用 MScape N1100/MS-N1100 端侧具身智脑设备，具体大脑模型未公开。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N1100 以 Xenomai 硬实时和 EtherCAT 接口支撑控制，但未公开独立小脑模型。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N1100 官方披露 1000 TOPS；会场口径为可按网络切换云+端或纯端侧，核心为 Jetson T5000、可选 T4000，其中 T5000 官方规格为 2070 FP4 TFLOPS、128GB、40-130W。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中国兵器/杭州智元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具身大脑通用套件基于多模态大模型构建“感知-记忆-规划-执行-反思”自主决策闭环，模型参数未公开。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公开稿披露具身大脑通用套件和机动抗毁边缘云；会场观察为端侧大脑设备无网可用，但智能弱于云侧大脑。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优必选 UBTECH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Thinker 是最大 100B 的具身基座模型，Thinker-VLA 负责动作执行，Thinker-WM 是世界模型。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优必选将高实时能力放在端侧，云端承担慢推理、多机调度和模型管理；VLA 端侧显存需求从 64GB 优化至 32GB。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VLA 推理效率提升 176%。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智元机器人 AGIBOT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GO-1/GO-2 是具身基座模型，GE-2 是世界模型，Genie Evolver 1.0 是闭环真机强化学习系统，参数未公开。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Action Expert 负责精细动作执行，参数未公开。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A3 Ultra 公开披露 700 TOPS 端侧具身处理器。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二手口径称 GO-1/GO-2 可在边缘端 10Hz-20Hz 推理，官方 Hz 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北京人形/天工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Pelican-Unify 是统一表征具身世界模型，集成 VLM、action model 和 WFM；PelicanVLM 是 72B 视觉语言大模型，XR-1 是跨本体 VLA。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北京人形披露全身控制自主导航系统，但未公开参数。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Pelican-Unify 已在天轶真机部署跑通；天工 Omni 采用端侧原生智能架构并支持大模型边缘部署。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rowSpan="3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65" b="0">
                          <a:solidFill>
                            <a:srgbClr val="000000"/>
                          </a:solidFill>
                          <a:latin typeface="Microsoft YaHei UI"/>
                        </a:rPr>
                        <a:t>云侧/平台未明：公开资料未说明生产部署方式，或大脑更像平台/研究模型。优点是模型尺度和迭代空间更大；缺点是离线和实时性不确定。扩展样本 11/22，占 50.0%。</a:t>
                      </a:r>
                    </a:p>
                  </a:txBody>
                  <a:tcPr anchor="ctr" marL="32004" marR="32004" marT="10972" marB="10972">
                    <a:solidFill>
                      <a:srgbClr val="ECF2F7"/>
                    </a:solidFill>
                    <a:lnL w="3200">
                      <a:solidFill>
                        <a:srgbClr val="AAB8C6"/>
                      </a:solidFill>
                    </a:lnL>
                    <a:lnR w="3200">
                      <a:solidFill>
                        <a:srgbClr val="AAB8C6"/>
                      </a:solidFill>
                    </a:lnR>
                    <a:lnT w="3200">
                      <a:solidFill>
                        <a:srgbClr val="AAB8C6"/>
                      </a:solidFill>
                    </a:lnT>
                    <a:lnB w="3200">
                      <a:solidFill>
                        <a:srgbClr val="AAB8C6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银河通用 Galbot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LDA-1B 是 1B 隐式世界-动作基础模型，AstraBrain WAM 是世界动作模型，GraspVLA/GroceryVLA/TrackVLA 是技能 VLA。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>AstraBrain-WBC 0.5 是 8040 万参数全身实时运控小脑。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AstraBrain-WBC 0.5 公开测试使用单张 RTX 4090，并支持 Jetson Orin onboard deployment；LDA-1B 生产部署算力未公开。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00" b="0">
                          <a:solidFill>
                            <a:srgbClr val="000000"/>
                          </a:solidFill>
                          <a:latin typeface="Microsoft YaHei UI"/>
                        </a:rPr>
                        <a:t>AstraBrain-WBC 0.5 在 RTX 4090 上推理低于 1.5ms，可满足 50Hz 闭环。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智平方 AI2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AlphaBrain 是具身大模型，GOVLA/FiS-VLA 是采用异构输入和异步频率的双系统 VLA，参数未公开。</a:t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4F7FA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  <a:tr h="379827">
                <a:tc vMerge="1"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1">
                          <a:solidFill>
                            <a:srgbClr val="000000"/>
                          </a:solidFill>
                          <a:latin typeface="Microsoft YaHei UI"/>
                        </a:rPr>
                        <a:t>自变量 X Square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WALL-B 是世界统一模型，Wall-OSS-0.5 是端到端预训练模型，参数未公开。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55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>模型已上真机，端云分工未公开。</a:t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8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30" b="0">
                          <a:solidFill>
                            <a:srgbClr val="000000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32004" marR="32004" marT="10972" marB="10972">
                    <a:solidFill>
                      <a:srgbClr val="FFFFFF"/>
                    </a:solidFill>
                    <a:lnL w="2400">
                      <a:solidFill>
                        <a:srgbClr val="B4C0CD"/>
                      </a:solidFill>
                    </a:lnL>
                    <a:lnR w="2400">
                      <a:solidFill>
                        <a:srgbClr val="B4C0CD"/>
                      </a:solidFill>
                    </a:lnR>
                    <a:lnT w="2400">
                      <a:solidFill>
                        <a:srgbClr val="B4C0CD"/>
                      </a:solidFill>
                    </a:lnT>
                    <a:lnB w="2400">
                      <a:solidFill>
                        <a:srgbClr val="B4C0C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64592" y="5998464"/>
            <a:ext cx="11868912" cy="621792"/>
          </a:xfrm>
          <a:prstGeom prst="rect">
            <a:avLst/>
          </a:prstGeom>
          <a:solidFill>
            <a:srgbClr val="E8EDF2"/>
          </a:solidFill>
          <a:ln>
            <a:solidFill>
              <a:srgbClr val="B4C0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6089904"/>
            <a:ext cx="14173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icrosoft YaHei UI"/>
              </a:rPr>
              <a:t>现状：端侧算力上台阶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6044184"/>
            <a:ext cx="4315968" cy="42062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512" b="0">
                <a:solidFill>
                  <a:srgbClr val="000000"/>
                </a:solidFill>
                <a:latin typeface="Microsoft YaHei UI"/>
              </a:rPr>
              <a:t>NVIDIA 从 Orin 级走向 Thor 级：T4000 为 1200 FP4 TFLOPS，T5000/AGX Thor 为 2070 FP4 TFLOPS、128GB；整机侧已有 560/700/1000 TOPS 样本。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81344" y="6089904"/>
            <a:ext cx="14173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icrosoft YaHei UI"/>
              </a:rPr>
              <a:t>前景：端云协同仍主流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6096" y="6044184"/>
            <a:ext cx="4315968" cy="42062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512" b="0">
                <a:solidFill>
                  <a:srgbClr val="000000"/>
                </a:solidFill>
                <a:latin typeface="Microsoft YaHei UI"/>
              </a:rPr>
              <a:t>1-7B VLA/LLM 更易纯端侧，72B/100B 大脑更适合端云协同；端侧跑安全、离线和快反应，云侧跑规划、调度和持续迭代。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6647688"/>
            <a:ext cx="11521440" cy="1097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430" b="0">
                <a:solidFill>
                  <a:srgbClr val="000000"/>
                </a:solidFill>
                <a:latin typeface="Microsoft YaHei UI"/>
              </a:rPr>
              <a:t>* 部署占比按报告末尾 22 家/项目扩展样本统计；Nexo 700TOPS、中国兵器无网端侧大脑、讯飞 MS-N1100 云端/纯端切换为会场口径。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