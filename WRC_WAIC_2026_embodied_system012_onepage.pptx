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9456" y="73152"/>
            <a:ext cx="859536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11924"/>
                </a:solidFill>
                <a:latin typeface="Microsoft YaHei UI"/>
              </a:rPr>
              <a:t>WRC/WAIC 2026 机器人“大脑”部署方式与硬数据对比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384048"/>
            <a:ext cx="9144000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55" b="0">
                <a:solidFill>
                  <a:srgbClr val="535F6E"/>
                </a:solidFill>
                <a:latin typeface="Microsoft YaHei UI"/>
              </a:rPr>
              <a:t>按纯端侧、端云协同、云侧/未明分类；聚焦 VLA、世界模型、VLM/LLM 与端侧智脑设备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7232" y="100584"/>
            <a:ext cx="2057400" cy="265176"/>
          </a:xfrm>
          <a:prstGeom prst="roundRect">
            <a:avLst>
              <a:gd name="adj" fmla="val 12000"/>
            </a:avLst>
          </a:prstGeom>
          <a:solidFill>
            <a:srgbClr val="E2F2F4"/>
          </a:solidFill>
          <a:ln>
            <a:solidFill>
              <a:srgbClr val="B3DC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90" b="1">
                <a:solidFill>
                  <a:srgbClr val="0E6471"/>
                </a:solidFill>
                <a:latin typeface="Microsoft YaHei UI"/>
              </a:rPr>
              <a:t>空白=未公开 | 会场口径已标注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" y="603504"/>
          <a:ext cx="11868911" cy="534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1234440"/>
                <a:gridCol w="2084831"/>
                <a:gridCol w="2304288"/>
                <a:gridCol w="2971800"/>
                <a:gridCol w="2286000"/>
              </a:tblGrid>
              <a:tr h="265176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部署方式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玩家/项目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大脑模型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架构 / 参数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算力与部署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75" b="1">
                          <a:solidFill>
                            <a:srgbClr val="FFFFFF"/>
                          </a:solidFill>
                          <a:latin typeface="Microsoft YaHei UI"/>
                        </a:rPr>
                        <a:t>推理频率 / 延迟</a:t>
                      </a:r>
                    </a:p>
                  </a:txBody>
                  <a:tcPr anchor="ctr" marL="22860" marR="22860" marT="5486" marB="5486">
                    <a:solidFill>
                      <a:srgbClr val="0B3D4A"/>
                    </a:solidFill>
                    <a:lnL w="3600">
                      <a:solidFill>
                        <a:srgbClr val="0B3D4A"/>
                      </a:solidFill>
                    </a:lnL>
                    <a:lnR w="3600">
                      <a:solidFill>
                        <a:srgbClr val="0B3D4A"/>
                      </a:solidFill>
                    </a:lnR>
                    <a:lnT w="3600">
                      <a:solidFill>
                        <a:srgbClr val="0B3D4A"/>
                      </a:solidFill>
                    </a:lnT>
                    <a:lnB w="3600">
                      <a:solidFill>
                        <a:srgbClr val="0B3D4A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本体端侧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科大讯飞/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灵境智源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讯飞机器人大脑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MScape N1100/MS-N1100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端侧具身智脑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模型未披露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N1100官网1000TOPS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14传感器+4 EtherCAT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会场: 云+端/纯端切换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T5000 2070FP4 TFLOPS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弱网备用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中国兵器/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杭州智元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具身大脑通用套件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多模态大模型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感知-记忆-规划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执行-反思闭环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公开: 机动抗毁边缘云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会场: 无网可用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智能弱于云侧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本体端侧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蚂蚁灵波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Robbyant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LingBot-VLA 2.0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VA / World / Vision / Depth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VLA 6B；VA约5B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Vision 1B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6万h；20+本体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Depth 1.5亿数据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RTX 4090D本地推理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VA 18-24GB VRAM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Depth edge SDK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VLA约130ms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World 720p/60fps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控制延迟&lt;1s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本体端侧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MiniCPM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Robot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RobotManip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RobotTrack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操作VLA 1.5B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跟踪VLA 0.9B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125→3.3 TFLOPs/步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H100/H20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Jetson Orin NX 16GB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H100 120ms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H20 10→37Hz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Go2 5+FPS/180ms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国产算力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地瓜+它石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S600适配3B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具身大模型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端侧模型适配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3B；5天真机部署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560TOPS INT8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32/64GB LPDDR5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204.8GB/s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端侧稳定运行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边缘部署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星海图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Galaxea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G0.5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Fast-WAM/GigaWorld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Nexo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自回归VLA；WAM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Qwen3.5 2B初始化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18本体；1亿VQA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R1 Lite端侧模型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Nexo 700TOPS*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Fast-WAM 190ms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A100 189ms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4090 110ms；C++85ms</a:t>
                      </a:r>
                    </a:p>
                  </a:txBody>
                  <a:tcPr anchor="ctr" marL="22860" marR="22860" marT="5486" marB="5486">
                    <a:solidFill>
                      <a:srgbClr val="EBF5F7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纯端侧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本地交互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蔚蓝智能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BabyAlpha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A3本地交互大模型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本地LLM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7B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本地端侧运行</a:t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FAFDFD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2A5C91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优必选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UBTECH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Thinker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Thinker-VLA/WM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基座+VLA+世界模型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Thinker最大100B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高实时端侧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云端慢推理/多机调度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显存64GB→32GB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推理效率+176%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2A5C91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智元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AGIBOT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GO-1/GO-2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GE-2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Genie Evolver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具身基座模型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世界模型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闭环真机RL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A3 Ultra 700TOPS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G2 Max 7x24h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二手口径10-20Hz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2A5C91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北京人形/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天工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Pelican-Unify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Pelican-VL 2.0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Wow/PelicanVLM/XR-1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统一表征世界模型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VLM+Action+WFM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PelicanVLM 72B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百万小时数据池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天轶真机跑通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天工Omni支持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>大模型边缘部署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395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2A5C91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机器科学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RoboScience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具身世界模型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通用操作模型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世界模型+操作模型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REX G1配合腾讯云模型</a:t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FAFCFF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2A5C91"/>
                          </a:solidFill>
                          <a:latin typeface="Microsoft YaHei UI"/>
                        </a:rPr>
                        <a:t>端云协同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傅利叶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Fourier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LLM + embodied models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+ planning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LLM/具身模型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导航规划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连接LLM、具身模型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导航和低级运控</a:t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CF3FB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云侧/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平台未明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银河通用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Galbot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LDA-1B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AstraBrain WAM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Grasp/Grocery/TrackVLA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隐式世界-动作模型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WAM/VLA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LDA-1B 1B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跨本体后训练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生产部署算力未公开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云侧/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平台未明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智平方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AI2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AlphaBrain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GOVLA/FiS-VLA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具身大模型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双系统VLA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异构输入+异步频率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云侧/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平台未明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自变量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X Square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WALL-B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Wall-OSS-0.5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世界统一模型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视觉/语言/动作统一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真机17任务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模型上真机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端云分工未公开</a:t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FCFCFC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  <a:tr h="317182"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云侧/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5B6979"/>
                          </a:solidFill>
                          <a:latin typeface="Microsoft YaHei UI"/>
                        </a:rPr>
                        <a:t>平台未明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普渡</a:t>
                      </a:r>
                    </a:p>
                    <a:p>
                      <a:pPr algn="ctr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1">
                          <a:solidFill>
                            <a:srgbClr val="0E6471"/>
                          </a:solidFill>
                          <a:latin typeface="Microsoft YaHei UI"/>
                        </a:rPr>
                        <a:t>Pudu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PuduFM 1.0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45" b="0">
                          <a:solidFill>
                            <a:srgbClr val="111924"/>
                          </a:solidFill>
                          <a:latin typeface="Microsoft YaHei UI"/>
                        </a:rPr>
                        <a:t>Pudu Agent OS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Physical Agent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一脑多形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5000万h/年数据回流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D7自主换电</a:t>
                      </a:r>
                    </a:p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>模型端侧算力未公开</a:t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pPr algn="l">
                        <a:lnSpc>
                          <a:spcPct val="7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418" b="0">
                          <a:solidFill>
                            <a:srgbClr val="111924"/>
                          </a:solidFill>
                          <a:latin typeface="Microsoft YaHei UI"/>
                        </a:rPr>
                        <a:t/>
                      </a:r>
                    </a:p>
                  </a:txBody>
                  <a:tcPr anchor="ctr" marL="22860" marR="22860" marT="5486" marB="5486">
                    <a:solidFill>
                      <a:srgbClr val="EFF4F8"/>
                    </a:solidFill>
                    <a:lnL w="2400">
                      <a:solidFill>
                        <a:srgbClr val="BECBD8"/>
                      </a:solidFill>
                    </a:lnL>
                    <a:lnR w="2400">
                      <a:solidFill>
                        <a:srgbClr val="BECBD8"/>
                      </a:solidFill>
                    </a:lnR>
                    <a:lnT w="2400">
                      <a:solidFill>
                        <a:srgbClr val="BECBD8"/>
                      </a:solidFill>
                    </a:lnT>
                    <a:lnB w="2400">
                      <a:solidFill>
                        <a:srgbClr val="BECB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64592" y="6053328"/>
            <a:ext cx="11868912" cy="566928"/>
          </a:xfrm>
          <a:prstGeom prst="rect">
            <a:avLst/>
          </a:prstGeom>
          <a:solidFill>
            <a:srgbClr val="E7EEF3"/>
          </a:solidFill>
          <a:ln>
            <a:solidFill>
              <a:srgbClr val="CDD8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" y="6208776"/>
            <a:ext cx="201168" cy="201168"/>
          </a:xfrm>
          <a:prstGeom prst="ellipse">
            <a:avLst/>
          </a:prstGeom>
          <a:solidFill>
            <a:srgbClr val="0E6471"/>
          </a:solidFill>
          <a:ln>
            <a:solidFill>
              <a:srgbClr val="0E6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6144768"/>
            <a:ext cx="1133856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0E6471"/>
                </a:solidFill>
                <a:latin typeface="Microsoft YaHei UI"/>
              </a:rPr>
              <a:t>端侧算力与能力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3" y="6126480"/>
            <a:ext cx="4343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1">
                <a:solidFill>
                  <a:srgbClr val="111924"/>
                </a:solidFill>
                <a:latin typeface="Microsoft YaHei UI"/>
              </a:rPr>
              <a:t>端侧已到 700-1000TOPS 与 1200-2070 FP4 TFLOPS 档；1.5B/0.9B VLA 可在 H20 到37Hz，6B VLA 本地约130ms。</a:t>
            </a:r>
          </a:p>
        </p:txBody>
      </p:sp>
      <p:sp>
        <p:nvSpPr>
          <p:cNvPr id="10" name="Oval 9"/>
          <p:cNvSpPr/>
          <p:nvPr/>
        </p:nvSpPr>
        <p:spPr>
          <a:xfrm>
            <a:off x="6144768" y="6208776"/>
            <a:ext cx="201168" cy="201168"/>
          </a:xfrm>
          <a:prstGeom prst="ellipse">
            <a:avLst/>
          </a:prstGeom>
          <a:solidFill>
            <a:srgbClr val="2A5C91"/>
          </a:solidFill>
          <a:ln>
            <a:solidFill>
              <a:srgbClr val="2A5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6144768"/>
            <a:ext cx="1133856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600" b="1">
                <a:solidFill>
                  <a:srgbClr val="2A5C91"/>
                </a:solidFill>
                <a:latin typeface="Microsoft YaHei UI"/>
              </a:rPr>
              <a:t>端侧化与端云协同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6126480"/>
            <a:ext cx="4343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545" b="1">
                <a:solidFill>
                  <a:srgbClr val="111924"/>
                </a:solidFill>
                <a:latin typeface="Microsoft YaHei UI"/>
              </a:rPr>
              <a:t>端侧解决断网、隐私、低时延；云侧保留更大模型/慢推理/多机调度，典型如优必选100B Thinker与北京人形百万小时数据池。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6647688"/>
            <a:ext cx="11430000" cy="1097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0"/>
              </a:spcAft>
            </a:pPr>
            <a:r>
              <a:rPr sz="455" b="0">
                <a:solidFill>
                  <a:srgbClr val="535F6E"/>
                </a:solidFill>
                <a:latin typeface="Microsoft YaHei UI"/>
              </a:rPr>
              <a:t>* Nexo 700TOPS、中国兵器无网端侧大脑、讯飞MS-N1100云端/纯端模式为会场口径；公开网页尚未完整披露具体模型。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