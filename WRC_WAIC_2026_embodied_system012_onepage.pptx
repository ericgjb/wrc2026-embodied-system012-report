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64592"/>
            <a:ext cx="950976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950" b="1">
                <a:solidFill>
                  <a:srgbClr val="14202C"/>
                </a:solidFill>
                <a:latin typeface="Microsoft YaHei UI"/>
              </a:rPr>
              <a:t>WRC/WAIC 2026 具身智能大小脑：端侧算力与模型量化竞争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2336" y="566928"/>
            <a:ext cx="85953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40" b="0">
                <a:solidFill>
                  <a:srgbClr val="536273"/>
                </a:solidFill>
                <a:latin typeface="Microsoft YaHei UI"/>
              </a:rPr>
              <a:t>System 0/1/2 视角，只保留公开披露了参数量、算力、延迟或频率的头部样本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19488" y="192024"/>
            <a:ext cx="2157984" cy="356616"/>
          </a:xfrm>
          <a:prstGeom prst="roundRect">
            <a:avLst>
              <a:gd name="adj" fmla="val 15000"/>
            </a:avLst>
          </a:prstGeom>
          <a:solidFill>
            <a:srgbClr val="DFF1F4"/>
          </a:solidFill>
          <a:ln>
            <a:solidFill>
              <a:srgbClr val="B2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0D4B58"/>
                </a:solidFill>
                <a:latin typeface="Microsoft YaHei UI"/>
              </a:rPr>
              <a:t>公开数据优先 | 2026-08-29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10896" y="905256"/>
          <a:ext cx="11576304" cy="431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3856"/>
                <a:gridCol w="2029968"/>
                <a:gridCol w="2359152"/>
                <a:gridCol w="3401568"/>
                <a:gridCol w="2651760"/>
              </a:tblGrid>
              <a:tr h="347472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70" b="1">
                          <a:solidFill>
                            <a:srgbClr val="FFFFFF"/>
                          </a:solidFill>
                          <a:latin typeface="Microsoft YaHei UI"/>
                        </a:rPr>
                        <a:t>玩家</a:t>
                      </a:r>
                    </a:p>
                  </a:txBody>
                  <a:tcPr anchor="ctr" marL="36576" marR="36576" marT="18288" marB="18288">
                    <a:solidFill>
                      <a:srgbClr val="0D4B58"/>
                    </a:solidFill>
                    <a:lnL w="6350">
                      <a:solidFill>
                        <a:srgbClr val="0D4B58"/>
                      </a:solidFill>
                      <a:prstDash val="solid"/>
                    </a:lnL>
                    <a:lnR w="6350">
                      <a:solidFill>
                        <a:srgbClr val="0D4B58"/>
                      </a:solidFill>
                      <a:prstDash val="solid"/>
                    </a:lnR>
                    <a:lnT w="6350">
                      <a:solidFill>
                        <a:srgbClr val="0D4B58"/>
                      </a:solidFill>
                      <a:prstDash val="solid"/>
                    </a:lnT>
                    <a:lnB w="6350">
                      <a:solidFill>
                        <a:srgbClr val="0D4B58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70" b="1">
                          <a:solidFill>
                            <a:srgbClr val="FFFFFF"/>
                          </a:solidFill>
                          <a:latin typeface="Microsoft YaHei UI"/>
                        </a:rPr>
                        <a:t>大小脑模型/路线</a:t>
                      </a:r>
                    </a:p>
                  </a:txBody>
                  <a:tcPr anchor="ctr" marL="36576" marR="36576" marT="18288" marB="18288">
                    <a:solidFill>
                      <a:srgbClr val="0D4B58"/>
                    </a:solidFill>
                    <a:lnL w="6350">
                      <a:solidFill>
                        <a:srgbClr val="0D4B58"/>
                      </a:solidFill>
                      <a:prstDash val="solid"/>
                    </a:lnL>
                    <a:lnR w="6350">
                      <a:solidFill>
                        <a:srgbClr val="0D4B58"/>
                      </a:solidFill>
                      <a:prstDash val="solid"/>
                    </a:lnR>
                    <a:lnT w="6350">
                      <a:solidFill>
                        <a:srgbClr val="0D4B58"/>
                      </a:solidFill>
                      <a:prstDash val="solid"/>
                    </a:lnT>
                    <a:lnB w="6350">
                      <a:solidFill>
                        <a:srgbClr val="0D4B58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70" b="1">
                          <a:solidFill>
                            <a:srgbClr val="FFFFFF"/>
                          </a:solidFill>
                          <a:latin typeface="Microsoft YaHei UI"/>
                        </a:rPr>
                        <a:t>参数量与数据</a:t>
                      </a:r>
                    </a:p>
                  </a:txBody>
                  <a:tcPr anchor="ctr" marL="36576" marR="36576" marT="18288" marB="18288">
                    <a:solidFill>
                      <a:srgbClr val="0D4B58"/>
                    </a:solidFill>
                    <a:lnL w="6350">
                      <a:solidFill>
                        <a:srgbClr val="0D4B58"/>
                      </a:solidFill>
                      <a:prstDash val="solid"/>
                    </a:lnL>
                    <a:lnR w="6350">
                      <a:solidFill>
                        <a:srgbClr val="0D4B58"/>
                      </a:solidFill>
                      <a:prstDash val="solid"/>
                    </a:lnR>
                    <a:lnT w="6350">
                      <a:solidFill>
                        <a:srgbClr val="0D4B58"/>
                      </a:solidFill>
                      <a:prstDash val="solid"/>
                    </a:lnT>
                    <a:lnB w="6350">
                      <a:solidFill>
                        <a:srgbClr val="0D4B58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70" b="1">
                          <a:solidFill>
                            <a:srgbClr val="FFFFFF"/>
                          </a:solidFill>
                          <a:latin typeface="Microsoft YaHei UI"/>
                        </a:rPr>
                        <a:t>端侧算力 / 推理频率</a:t>
                      </a:r>
                    </a:p>
                  </a:txBody>
                  <a:tcPr anchor="ctr" marL="36576" marR="36576" marT="18288" marB="18288">
                    <a:solidFill>
                      <a:srgbClr val="0D4B58"/>
                    </a:solidFill>
                    <a:lnL w="6350">
                      <a:solidFill>
                        <a:srgbClr val="0D4B58"/>
                      </a:solidFill>
                      <a:prstDash val="solid"/>
                    </a:lnL>
                    <a:lnR w="6350">
                      <a:solidFill>
                        <a:srgbClr val="0D4B58"/>
                      </a:solidFill>
                      <a:prstDash val="solid"/>
                    </a:lnR>
                    <a:lnT w="6350">
                      <a:solidFill>
                        <a:srgbClr val="0D4B58"/>
                      </a:solidFill>
                      <a:prstDash val="solid"/>
                    </a:lnT>
                    <a:lnB w="6350">
                      <a:solidFill>
                        <a:srgbClr val="0D4B58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70" b="1">
                          <a:solidFill>
                            <a:srgbClr val="FFFFFF"/>
                          </a:solidFill>
                          <a:latin typeface="Microsoft YaHei UI"/>
                        </a:rPr>
                        <a:t>一页判断</a:t>
                      </a:r>
                    </a:p>
                  </a:txBody>
                  <a:tcPr anchor="ctr" marL="36576" marR="36576" marT="18288" marB="18288">
                    <a:solidFill>
                      <a:srgbClr val="0D4B58"/>
                    </a:solidFill>
                    <a:lnL w="6350">
                      <a:solidFill>
                        <a:srgbClr val="0D4B58"/>
                      </a:solidFill>
                      <a:prstDash val="solid"/>
                    </a:lnL>
                    <a:lnR w="6350">
                      <a:solidFill>
                        <a:srgbClr val="0D4B58"/>
                      </a:solidFill>
                      <a:prstDash val="solid"/>
                    </a:lnR>
                    <a:lnT w="6350">
                      <a:solidFill>
                        <a:srgbClr val="0D4B58"/>
                      </a:solidFill>
                      <a:prstDash val="solid"/>
                    </a:lnT>
                    <a:lnB w="6350">
                      <a:solidFill>
                        <a:srgbClr val="0D4B58"/>
                      </a:solidFill>
                      <a:prstDash val="solid"/>
                    </a:lnB>
                  </a:tcPr>
                </a:tc>
              </a:tr>
              <a:tr h="566928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14202C"/>
                          </a:solidFill>
                          <a:latin typeface="Microsoft YaHei UI"/>
                        </a:rPr>
                        <a:t>银河通用</a:t>
                      </a:r>
                    </a:p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14202C"/>
                          </a:solidFill>
                          <a:latin typeface="Microsoft YaHei UI"/>
                        </a:rPr>
                        <a:t>Galbot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0">
                          <a:solidFill>
                            <a:srgbClr val="14202C"/>
                          </a:solidFill>
                          <a:latin typeface="Microsoft YaHei UI"/>
                        </a:rPr>
                        <a:t>AstraBrain-WBC 小脑</a:t>
                      </a:r>
                    </a:p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0">
                          <a:solidFill>
                            <a:srgbClr val="14202C"/>
                          </a:solidFill>
                          <a:latin typeface="Microsoft YaHei UI"/>
                        </a:rPr>
                        <a:t>LDA-1B / WAM / VLA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WBC 8040万</a:t>
                      </a:r>
                    </a:p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LDA-1B 1B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RTX 4090 &lt;1.5ms</a:t>
                      </a:r>
                    </a:p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50Hz闭环；Jetson Orin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0D4B58"/>
                          </a:solidFill>
                          <a:latin typeface="Microsoft YaHei UI"/>
                        </a:rPr>
                        <a:t>硬指标最完整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</a:tr>
              <a:tr h="566928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14202C"/>
                          </a:solidFill>
                          <a:latin typeface="Microsoft YaHei UI"/>
                        </a:rPr>
                        <a:t>蚂蚁灵波</a:t>
                      </a:r>
                    </a:p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14202C"/>
                          </a:solidFill>
                          <a:latin typeface="Microsoft YaHei UI"/>
                        </a:rPr>
                        <a:t>Robbyant</a:t>
                      </a:r>
                    </a:p>
                  </a:txBody>
                  <a:tcPr anchor="ctr" marL="36576" marR="36576" marT="18288" marB="18288">
                    <a:solidFill>
                      <a:srgbClr val="EFF3F7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0">
                          <a:solidFill>
                            <a:srgbClr val="14202C"/>
                          </a:solidFill>
                          <a:latin typeface="Microsoft YaHei UI"/>
                        </a:rPr>
                        <a:t>LingBot-VLA / VA</a:t>
                      </a:r>
                    </a:p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0">
                          <a:solidFill>
                            <a:srgbClr val="14202C"/>
                          </a:solidFill>
                          <a:latin typeface="Microsoft YaHei UI"/>
                        </a:rPr>
                        <a:t>World / Vision / Depth</a:t>
                      </a:r>
                    </a:p>
                  </a:txBody>
                  <a:tcPr anchor="ctr" marL="36576" marR="36576" marT="18288" marB="18288">
                    <a:solidFill>
                      <a:srgbClr val="EFF3F7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VLA 6B；VA约5B</a:t>
                      </a:r>
                    </a:p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Vision 1B；6万h；20+本体</a:t>
                      </a:r>
                    </a:p>
                  </a:txBody>
                  <a:tcPr anchor="ctr" marL="36576" marR="36576" marT="18288" marB="18288">
                    <a:solidFill>
                      <a:srgbClr val="EFF3F7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4090D约130ms</a:t>
                      </a:r>
                    </a:p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VA 18-24GB；World 720p/60fps,&lt;1s</a:t>
                      </a:r>
                    </a:p>
                  </a:txBody>
                  <a:tcPr anchor="ctr" marL="36576" marR="36576" marT="18288" marB="18288">
                    <a:solidFill>
                      <a:srgbClr val="EFF3F7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0D4B58"/>
                          </a:solidFill>
                          <a:latin typeface="Microsoft YaHei UI"/>
                        </a:rPr>
                        <a:t>一脑多机</a:t>
                      </a:r>
                    </a:p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0D4B58"/>
                          </a:solidFill>
                          <a:latin typeface="Microsoft YaHei UI"/>
                        </a:rPr>
                        <a:t>大脑供应商样本</a:t>
                      </a:r>
                    </a:p>
                  </a:txBody>
                  <a:tcPr anchor="ctr" marL="36576" marR="36576" marT="18288" marB="18288">
                    <a:solidFill>
                      <a:srgbClr val="EFF3F7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</a:tr>
              <a:tr h="566928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14202C"/>
                          </a:solidFill>
                          <a:latin typeface="Microsoft YaHei UI"/>
                        </a:rPr>
                        <a:t>优必选</a:t>
                      </a:r>
                    </a:p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14202C"/>
                          </a:solidFill>
                          <a:latin typeface="Microsoft YaHei UI"/>
                        </a:rPr>
                        <a:t>UBTECH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0">
                          <a:solidFill>
                            <a:srgbClr val="14202C"/>
                          </a:solidFill>
                          <a:latin typeface="Microsoft YaHei UI"/>
                        </a:rPr>
                        <a:t>Thinker 基座</a:t>
                      </a:r>
                    </a:p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0">
                          <a:solidFill>
                            <a:srgbClr val="14202C"/>
                          </a:solidFill>
                          <a:latin typeface="Microsoft YaHei UI"/>
                        </a:rPr>
                        <a:t>Thinker-VLA / WM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Thinker 最大100B</a:t>
                      </a:r>
                    </a:p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VLA参数未披露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端侧显存 64GB→32GB</a:t>
                      </a:r>
                    </a:p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推理效率 +176%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0D4B58"/>
                          </a:solidFill>
                          <a:latin typeface="Microsoft YaHei UI"/>
                        </a:rPr>
                        <a:t>工业端侧</a:t>
                      </a:r>
                    </a:p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0D4B58"/>
                          </a:solidFill>
                          <a:latin typeface="Microsoft YaHei UI"/>
                        </a:rPr>
                        <a:t>工程化领先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</a:tr>
              <a:tr h="566928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14202C"/>
                          </a:solidFill>
                          <a:latin typeface="Microsoft YaHei UI"/>
                        </a:rPr>
                        <a:t>智元</a:t>
                      </a:r>
                    </a:p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14202C"/>
                          </a:solidFill>
                          <a:latin typeface="Microsoft YaHei UI"/>
                        </a:rPr>
                        <a:t>AGIBOT</a:t>
                      </a:r>
                    </a:p>
                  </a:txBody>
                  <a:tcPr anchor="ctr" marL="36576" marR="36576" marT="18288" marB="18288">
                    <a:solidFill>
                      <a:srgbClr val="EFF3F7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0">
                          <a:solidFill>
                            <a:srgbClr val="14202C"/>
                          </a:solidFill>
                          <a:latin typeface="Microsoft YaHei UI"/>
                        </a:rPr>
                        <a:t>GO-2 / GE-2</a:t>
                      </a:r>
                    </a:p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0">
                          <a:solidFill>
                            <a:srgbClr val="14202C"/>
                          </a:solidFill>
                          <a:latin typeface="Microsoft YaHei UI"/>
                        </a:rPr>
                        <a:t>Genie Evolver</a:t>
                      </a:r>
                    </a:p>
                  </a:txBody>
                  <a:tcPr anchor="ctr" marL="36576" marR="36576" marT="18288" marB="18288">
                    <a:solidFill>
                      <a:srgbClr val="EFF3F7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模型参数未披露</a:t>
                      </a:r>
                    </a:p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G2 Max 38/50kg</a:t>
                      </a:r>
                    </a:p>
                  </a:txBody>
                  <a:tcPr anchor="ctr" marL="36576" marR="36576" marT="18288" marB="18288">
                    <a:solidFill>
                      <a:srgbClr val="EFF3F7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A3 Ultra 700TOPS</a:t>
                      </a:r>
                    </a:p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7x24h作业口径</a:t>
                      </a:r>
                    </a:p>
                  </a:txBody>
                  <a:tcPr anchor="ctr" marL="36576" marR="36576" marT="18288" marB="18288">
                    <a:solidFill>
                      <a:srgbClr val="EFF3F7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0D4B58"/>
                          </a:solidFill>
                          <a:latin typeface="Microsoft YaHei UI"/>
                        </a:rPr>
                        <a:t>算力明确</a:t>
                      </a:r>
                    </a:p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0D4B58"/>
                          </a:solidFill>
                          <a:latin typeface="Microsoft YaHei UI"/>
                        </a:rPr>
                        <a:t>参数待补</a:t>
                      </a:r>
                    </a:p>
                  </a:txBody>
                  <a:tcPr anchor="ctr" marL="36576" marR="36576" marT="18288" marB="18288">
                    <a:solidFill>
                      <a:srgbClr val="EFF3F7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</a:tr>
              <a:tr h="566928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14202C"/>
                          </a:solidFill>
                          <a:latin typeface="Microsoft YaHei UI"/>
                        </a:rPr>
                        <a:t>地瓜+它石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0">
                          <a:solidFill>
                            <a:srgbClr val="14202C"/>
                          </a:solidFill>
                          <a:latin typeface="Microsoft YaHei UI"/>
                        </a:rPr>
                        <a:t>RDK S600</a:t>
                      </a:r>
                    </a:p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0">
                          <a:solidFill>
                            <a:srgbClr val="14202C"/>
                          </a:solidFill>
                          <a:latin typeface="Microsoft YaHei UI"/>
                        </a:rPr>
                        <a:t>A3 具身模型适配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3B模型适配</a:t>
                      </a:r>
                    </a:p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5天真机部署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560TOPS INT8</a:t>
                      </a:r>
                    </a:p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32/64GB；204.8GB/s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0D4B58"/>
                          </a:solidFill>
                          <a:latin typeface="Microsoft YaHei UI"/>
                        </a:rPr>
                        <a:t>国产端侧</a:t>
                      </a:r>
                    </a:p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0D4B58"/>
                          </a:solidFill>
                          <a:latin typeface="Microsoft YaHei UI"/>
                        </a:rPr>
                        <a:t>算力底座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</a:tr>
              <a:tr h="566928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14202C"/>
                          </a:solidFill>
                          <a:latin typeface="Microsoft YaHei UI"/>
                        </a:rPr>
                        <a:t>MiniCPM</a:t>
                      </a:r>
                    </a:p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14202C"/>
                          </a:solidFill>
                          <a:latin typeface="Microsoft YaHei UI"/>
                        </a:rPr>
                        <a:t>Robot</a:t>
                      </a:r>
                    </a:p>
                  </a:txBody>
                  <a:tcPr anchor="ctr" marL="36576" marR="36576" marT="18288" marB="18288">
                    <a:solidFill>
                      <a:srgbClr val="EFF3F7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0">
                          <a:solidFill>
                            <a:srgbClr val="14202C"/>
                          </a:solidFill>
                          <a:latin typeface="Microsoft YaHei UI"/>
                        </a:rPr>
                        <a:t>RobotManip</a:t>
                      </a:r>
                    </a:p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0">
                          <a:solidFill>
                            <a:srgbClr val="14202C"/>
                          </a:solidFill>
                          <a:latin typeface="Microsoft YaHei UI"/>
                        </a:rPr>
                        <a:t>RobotTrack</a:t>
                      </a:r>
                    </a:p>
                  </a:txBody>
                  <a:tcPr anchor="ctr" marL="36576" marR="36576" marT="18288" marB="18288">
                    <a:solidFill>
                      <a:srgbClr val="EFF3F7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1.5B / 0.9B</a:t>
                      </a:r>
                    </a:p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60帧上下文125→3.3TFLOPs</a:t>
                      </a:r>
                    </a:p>
                  </a:txBody>
                  <a:tcPr anchor="ctr" marL="36576" marR="36576" marT="18288" marB="18288">
                    <a:solidFill>
                      <a:srgbClr val="EFF3F7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H20 10→37Hz</a:t>
                      </a:r>
                    </a:p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Go2 5+FPS/180ms；Orin NX</a:t>
                      </a:r>
                    </a:p>
                  </a:txBody>
                  <a:tcPr anchor="ctr" marL="36576" marR="36576" marT="18288" marB="18288">
                    <a:solidFill>
                      <a:srgbClr val="EFF3F7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0D4B58"/>
                          </a:solidFill>
                          <a:latin typeface="Microsoft YaHei UI"/>
                        </a:rPr>
                        <a:t>小模型端侧化</a:t>
                      </a:r>
                    </a:p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0D4B58"/>
                          </a:solidFill>
                          <a:latin typeface="Microsoft YaHei UI"/>
                        </a:rPr>
                        <a:t>开源标杆</a:t>
                      </a:r>
                    </a:p>
                  </a:txBody>
                  <a:tcPr anchor="ctr" marL="36576" marR="36576" marT="18288" marB="18288">
                    <a:solidFill>
                      <a:srgbClr val="EFF3F7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</a:tr>
              <a:tr h="566928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14202C"/>
                          </a:solidFill>
                          <a:latin typeface="Microsoft YaHei UI"/>
                        </a:rPr>
                        <a:t>星海图</a:t>
                      </a:r>
                    </a:p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14202C"/>
                          </a:solidFill>
                          <a:latin typeface="Microsoft YaHei UI"/>
                        </a:rPr>
                        <a:t>Galaxea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0">
                          <a:solidFill>
                            <a:srgbClr val="14202C"/>
                          </a:solidFill>
                          <a:latin typeface="Microsoft YaHei UI"/>
                        </a:rPr>
                        <a:t>G0.5 / Fast-WAM</a:t>
                      </a:r>
                    </a:p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0">
                          <a:solidFill>
                            <a:srgbClr val="14202C"/>
                          </a:solidFill>
                          <a:latin typeface="Microsoft YaHei UI"/>
                        </a:rPr>
                        <a:t>Nexo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G0.5基于Qwen3.5 2B</a:t>
                      </a:r>
                    </a:p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18本体；1亿VQA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Fast-WAM 190ms</a:t>
                      </a:r>
                    </a:p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35" b="0">
                          <a:solidFill>
                            <a:srgbClr val="14202C"/>
                          </a:solidFill>
                          <a:latin typeface="Microsoft YaHei UI"/>
                        </a:rPr>
                        <a:t>4090 110ms/C++85ms；Nexo 700TOPS*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0D4B58"/>
                          </a:solidFill>
                          <a:latin typeface="Microsoft YaHei UI"/>
                        </a:rPr>
                        <a:t>世界模型</a:t>
                      </a:r>
                    </a:p>
                    <a:p>
                      <a:pPr algn="ctr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5" b="1">
                          <a:solidFill>
                            <a:srgbClr val="0D4B58"/>
                          </a:solidFill>
                          <a:latin typeface="Microsoft YaHei UI"/>
                        </a:rPr>
                        <a:t>延迟清晰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  <a:lnL w="4200">
                      <a:solidFill>
                        <a:srgbClr val="BFCBD6"/>
                      </a:solidFill>
                      <a:prstDash val="solid"/>
                    </a:lnL>
                    <a:lnR w="4200">
                      <a:solidFill>
                        <a:srgbClr val="BFCBD6"/>
                      </a:solidFill>
                      <a:prstDash val="solid"/>
                    </a:lnR>
                    <a:lnT w="4200">
                      <a:solidFill>
                        <a:srgbClr val="BFCBD6"/>
                      </a:solidFill>
                      <a:prstDash val="solid"/>
                    </a:lnT>
                    <a:lnB w="4200">
                      <a:solidFill>
                        <a:srgbClr val="BFCBD6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10896" y="5422392"/>
            <a:ext cx="11576304" cy="1152144"/>
          </a:xfrm>
          <a:prstGeom prst="rect">
            <a:avLst/>
          </a:prstGeom>
          <a:solidFill>
            <a:srgbClr val="E8EEF3"/>
          </a:solidFill>
          <a:ln>
            <a:solidFill>
              <a:srgbClr val="D3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5532120"/>
            <a:ext cx="114300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>
                <a:solidFill>
                  <a:srgbClr val="0D4B58"/>
                </a:solidFill>
                <a:latin typeface="Microsoft YaHei UI"/>
              </a:rPr>
              <a:t>核心观点</a:t>
            </a:r>
          </a:p>
        </p:txBody>
      </p:sp>
      <p:sp>
        <p:nvSpPr>
          <p:cNvPr id="8" name="Oval 7"/>
          <p:cNvSpPr/>
          <p:nvPr/>
        </p:nvSpPr>
        <p:spPr>
          <a:xfrm>
            <a:off x="1481328" y="5532120"/>
            <a:ext cx="256032" cy="256032"/>
          </a:xfrm>
          <a:prstGeom prst="ellipse">
            <a:avLst/>
          </a:prstGeom>
          <a:solidFill>
            <a:srgbClr val="12697A"/>
          </a:solidFill>
          <a:ln>
            <a:solidFill>
              <a:srgbClr val="126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2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0512" y="5504688"/>
            <a:ext cx="2212848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65" b="0">
                <a:solidFill>
                  <a:srgbClr val="14202C"/>
                </a:solidFill>
                <a:latin typeface="Microsoft YaHei UI"/>
              </a:rPr>
              <a:t>竞争焦点从“模型发布”转向“本体端侧可跑”：700TOPS、32GB显存、50Hz闭环成为关键锚点。</a:t>
            </a:r>
          </a:p>
        </p:txBody>
      </p:sp>
      <p:sp>
        <p:nvSpPr>
          <p:cNvPr id="10" name="Oval 9"/>
          <p:cNvSpPr/>
          <p:nvPr/>
        </p:nvSpPr>
        <p:spPr>
          <a:xfrm>
            <a:off x="4096512" y="5532120"/>
            <a:ext cx="256032" cy="256032"/>
          </a:xfrm>
          <a:prstGeom prst="ellipse">
            <a:avLst/>
          </a:prstGeom>
          <a:solidFill>
            <a:srgbClr val="12697A"/>
          </a:solidFill>
          <a:ln>
            <a:solidFill>
              <a:srgbClr val="126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2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5696" y="5504688"/>
            <a:ext cx="2212848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65" b="0">
                <a:solidFill>
                  <a:srgbClr val="14202C"/>
                </a:solidFill>
                <a:latin typeface="Microsoft YaHei UI"/>
              </a:rPr>
              <a:t>数据最完整样本集中在银河通用、蚂蚁灵波；端侧工程化明确样本是优必选、地瓜S600/它石。</a:t>
            </a:r>
          </a:p>
        </p:txBody>
      </p:sp>
      <p:sp>
        <p:nvSpPr>
          <p:cNvPr id="12" name="Oval 11"/>
          <p:cNvSpPr/>
          <p:nvPr/>
        </p:nvSpPr>
        <p:spPr>
          <a:xfrm>
            <a:off x="6711696" y="5532120"/>
            <a:ext cx="256032" cy="256032"/>
          </a:xfrm>
          <a:prstGeom prst="ellipse">
            <a:avLst/>
          </a:prstGeom>
          <a:solidFill>
            <a:srgbClr val="12697A"/>
          </a:solidFill>
          <a:ln>
            <a:solidFill>
              <a:srgbClr val="126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2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504688"/>
            <a:ext cx="2212848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65" b="0">
                <a:solidFill>
                  <a:srgbClr val="14202C"/>
                </a:solidFill>
                <a:latin typeface="Microsoft YaHei UI"/>
              </a:rPr>
              <a:t>大脑路线分化为 VLA、世界模型/WAM、端到端技能模型；小脑开始从传统控制器升级为运动基础模型。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0" y="5532120"/>
            <a:ext cx="256032" cy="256032"/>
          </a:xfrm>
          <a:prstGeom prst="ellipse">
            <a:avLst/>
          </a:prstGeom>
          <a:solidFill>
            <a:srgbClr val="D36823"/>
          </a:solidFill>
          <a:ln>
            <a:solidFill>
              <a:srgbClr val="D368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2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6063" y="5504688"/>
            <a:ext cx="2212848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65" b="0">
                <a:solidFill>
                  <a:srgbClr val="14202C"/>
                </a:solidFill>
                <a:latin typeface="Microsoft YaHei UI"/>
              </a:rPr>
              <a:t>多数厂商仍未公开参数、芯片、Hz与真实接管率；后续应优先追踪“端侧板卡 + 频率 + 连续作业小时”。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83680"/>
            <a:ext cx="10424160" cy="1463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20" b="0">
                <a:solidFill>
                  <a:srgbClr val="536273"/>
                </a:solidFill>
                <a:latin typeface="Microsoft YaHei UI"/>
              </a:rPr>
              <a:t>* Nexo 700TOPS 为用户补充的会场口径，需等待星海图官方公开页面/材料交叉验证。PPT 基于仓库 README 当前版本浓缩。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