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54864"/>
            <a:ext cx="11704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Noto Sans CJK SC"/>
              </a:rPr>
              <a:t>WRC/WAIC 2026 机器人“大脑”模型与部署量化图谱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01168" y="438912"/>
          <a:ext cx="1179576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9032"/>
                <a:gridCol w="859536"/>
                <a:gridCol w="2926080"/>
                <a:gridCol w="1828800"/>
                <a:gridCol w="2834640"/>
                <a:gridCol w="1947672"/>
              </a:tblGrid>
              <a:tr h="272034"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480" b="1">
                          <a:solidFill>
                            <a:srgbClr val="000000"/>
                          </a:solidFill>
                          <a:latin typeface="Noto Sans CJK SC"/>
                        </a:rPr>
                        <a:t>部署方式</a:t>
                      </a:r>
                    </a:p>
                  </a:txBody>
                  <a:tcPr anchor="ctr">
                    <a:solidFill>
                      <a:srgbClr val="E8EBEE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480" b="1">
                          <a:solidFill>
                            <a:srgbClr val="000000"/>
                          </a:solidFill>
                          <a:latin typeface="Noto Sans CJK SC"/>
                        </a:rPr>
                        <a:t>厂商/项目</a:t>
                      </a:r>
                    </a:p>
                  </a:txBody>
                  <a:tcPr anchor="ctr">
                    <a:solidFill>
                      <a:srgbClr val="E8EBEE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480" b="1">
                          <a:solidFill>
                            <a:srgbClr val="000000"/>
                          </a:solidFill>
                          <a:latin typeface="Noto Sans CJK SC"/>
                        </a:rPr>
                        <a:t>大脑模型、架构和参数</a:t>
                      </a:r>
                    </a:p>
                  </a:txBody>
                  <a:tcPr anchor="ctr">
                    <a:solidFill>
                      <a:srgbClr val="E8EBEE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480" b="1">
                          <a:solidFill>
                            <a:srgbClr val="000000"/>
                          </a:solidFill>
                          <a:latin typeface="Noto Sans CJK SC"/>
                        </a:rPr>
                        <a:t>小脑模型</a:t>
                      </a:r>
                    </a:p>
                  </a:txBody>
                  <a:tcPr anchor="ctr">
                    <a:solidFill>
                      <a:srgbClr val="E8EBEE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480" b="1">
                          <a:solidFill>
                            <a:srgbClr val="000000"/>
                          </a:solidFill>
                          <a:latin typeface="Noto Sans CJK SC"/>
                        </a:rPr>
                        <a:t>算力/部署</a:t>
                      </a:r>
                    </a:p>
                  </a:txBody>
                  <a:tcPr anchor="ctr">
                    <a:solidFill>
                      <a:srgbClr val="E8EBEE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480" b="1">
                          <a:solidFill>
                            <a:srgbClr val="000000"/>
                          </a:solidFill>
                          <a:latin typeface="Noto Sans CJK SC"/>
                        </a:rPr>
                        <a:t>推理频率/延迟</a:t>
                      </a:r>
                    </a:p>
                  </a:txBody>
                  <a:tcPr anchor="ctr">
                    <a:solidFill>
                      <a:srgbClr val="E8EBEE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rowSpan="8"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90" b="1">
                          <a:solidFill>
                            <a:srgbClr val="000000"/>
                          </a:solidFill>
                          <a:latin typeface="Noto Sans CJK SC"/>
                        </a:rPr>
                        <a:t>纯端侧/本体端侧：本体运行模型或智脑，离线、低延迟、数据不出端，但受功耗、显存和散热限制；8/25，占 32.0%。</a:t>
                      </a:r>
                    </a:p>
                  </a:txBody>
                  <a:tcPr anchor="ctr">
                    <a:solidFill>
                      <a:srgbClr val="F2F4F6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蚂蚁灵波 Robbyant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LingBot-VLA 2.0 是 6B VLA，LingBot-VA 2.0 是约 5B DiT 世界动作模型，LingBot-Vision 是 1B。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RTX 4090D 本地推理，LingBot-VA 约需 18-24GB VRAM。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VLA 约 130ms，World 2.0 为 720p/60fps。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MiniCPM-Robot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RobotManip 是 1.5B 通用操作 VLA，RobotTrack 是 0.9B 目标跟踪 VLA。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RobotManip 可在 H100/H20 推理，RobotTrack 可部署 Jetson Orin NX 16GB。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H100 为 120ms，H20 从 10Hz 提升至 37Hz，Go2 本地约 180ms。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地瓜/它石智航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RDK S600 已适配 3B 参数级具身大模型，模型名称未公开。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RDK S600 为 560 TOPS INT8、32/64GB LPDDR5 和 204.8GB/s。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星海图 Galaxea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G0.5 是 Qwen3.5 2B 初始化的自回归 VLA，Fast-WAM/GigaWorld-Policy-0.5 是世界动作模型。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披露高性能运动小脑和全身控制基础模型，但参数未公开。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R1 Lite 原生支持端侧模型部署，Nexo 700 TOPS 为 WRC 会场口径。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Fast-WAM 约 190ms，GigaWorld 在 RTX 4090 为 110ms、C++ 为 85ms。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蔚蓝 BabyAlpha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BabyAlpha A3 本地运行 7B 交互大模型，用于对话和环境识别。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本地端侧运行，芯片型号未公开。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宇树 Unitree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UnifoLM-WMA-0 是开源 WMA 架构，UnifoLM-X1-0 是工业级具身大模型，参数未公开。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未公开具名小脑模型参数。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G1-D 高算力模组可选 Orin NX 16GB（100 TOPS），基础算力为 8 核 CPU。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G1-D 遥操作延迟低于 100ms，采样率为 60Hz。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云深处 Deep Robotics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未检索到具名大脑模型，绝影 X30 在 WAIC/黑芝麻生态材料中搭载黑芝麻芯片。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未公开具名小脑模型。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黑芝麻 Aura 平台为 70 TOPS，并被列为在云深处等伙伴产品中商用。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星尘 Astribot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Lumo 是自研基座模型，DuoCore-FS 是快慢异步全身 VLA，支持 3B VLM。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Fast pathway 负责高频动作生成，但未作为独立小脑模型披露参数。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TurboX IRB10 最高 700 TOPS，星尘 T1 适配 RDK S100（80 TOPS）。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DuoCore-FS 达到 30Hz 全身 action-chunk generation。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rowSpan="6"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90" b="1">
                          <a:solidFill>
                            <a:srgbClr val="000000"/>
                          </a:solidFill>
                          <a:latin typeface="Noto Sans CJK SC"/>
                        </a:rPr>
                        <a:t>端云协同/可切换：端侧做快反应和离线兜底，云侧做慢推理和调度；兼顾能力与实时性，但依赖网络编排；6/25，占 24.0%。</a:t>
                      </a:r>
                    </a:p>
                  </a:txBody>
                  <a:tcPr anchor="ctr">
                    <a:solidFill>
                      <a:srgbClr val="F2F4F6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科大讯飞/灵境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MScape N1100/MS-N1100 是端侧具身智脑设备，具体大脑模型未公开。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Xenomai 硬实时和 EtherCAT 支撑控制，但未公开小脑模型。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N1100 为 1000 TOPS，Jetson T5000 为 2070 FP4 TFLOPS，T4000 为 1200 FP4 TFLOPS。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中国兵器/杭智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具身大脑通用套件基于多模态大模型构建感知、记忆、规划、执行、反思闭环，参数未公开。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公开稿披露具身大脑通用套件和机动抗毁边缘云，会场口径为无网可用但弱于云侧。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优必选 UBTECH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Thinker 最大 100B，Thinker-VLA 负责动作执行，Thinker-WM 是世界模型。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端侧承担高实时能力，云端承担慢推理和多机调度，VLA 显存需求由 64GB 优化至 32GB。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VLA 推理效率提升 176%。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智元 AGIBOT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GO-1/GO-2 是具身基座模型，GE-2 是世界模型，Genie Evolver 是闭环真机强化学习系统。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Action Expert 负责精细动作执行，参数未公开。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A3 Ultra 公开披露 700 TOPS 端侧具身处理器。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二手口径称 GO-1/GO-2 可在边缘端 10-20Hz 推理。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北京人形/天工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Pelican-Unify 集成 VLM、action model 和 WFM，PelicanVLM 是 72B，XR-1 是跨本体 VLA。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披露全身控制自主导航系统，但参数未公开。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Pelican-Unify 已在天轶真机跑通，天工 Omni 支持大模型边缘部署。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机器科学 RoboScience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Visics 采用 VLOA 架构，由具身世界模型和通用操作模型双引擎驱动。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公开报道称展台 API 调用腾讯云模型，另有 REX G1 端侧 2070 TFLOPS 口径。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rowSpan="5"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90" b="1">
                          <a:solidFill>
                            <a:srgbClr val="000000"/>
                          </a:solidFill>
                          <a:latin typeface="Noto Sans CJK SC"/>
                        </a:rPr>
                        <a:t>云侧/平台未明：公开资料未说明生产部署或偏平台模型；模型尺度和迭代空间大，但离线和实时性不确定；11/25，占 44.0%。</a:t>
                      </a:r>
                    </a:p>
                  </a:txBody>
                  <a:tcPr anchor="ctr">
                    <a:solidFill>
                      <a:srgbClr val="F2F4F6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银河通用 Galbot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LDA-1B 是 1B 隐式世界-动作模型，AstraBrain WAM 是世界动作模型，另有多种技能 VLA。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AstraBrain-WBC 0.5 是 8040 万参数全身实时运控小脑。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WBC 测试用 RTX 4090，并支持 Jetson Orin onboard；大脑生产部署算力未公开。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WBC 低于 1.5ms，可满足 50Hz 闭环。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智平方 AI2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AlphaBrain 是具身大模型，GOVLA/FiS-VLA 是异构输入和异步频率的双系统 VLA，参数未公开。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自变量 X Square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WALL-B 是世界统一模型，Wall-OSS-0.5 是端到端预训练模型，参数未公开。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模型已上真机，端云分工未公开。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魔法原子 MagicLab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Magic-VLA K02 是双系统通用具身大模型，Magic-Mix 是世界模型，含 WAM 和 Creator，参数未公开。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官方披露 motion control network、6D visual servoing 和 full-body imitation learning。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MagicBot Gen1 为 8-core CPU + 100 TOPS AI Processor；模型生产部署算力未公开。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  <a:tr h="272034">
                <a:tc vMerge="1">
                  <a:txBody>
                    <a:bodyPr/>
                    <a:lstStyle/>
                    <a:p/>
                  </a:txBody>
                  <a:tcPr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365" b="0">
                          <a:solidFill>
                            <a:srgbClr val="000000"/>
                          </a:solidFill>
                          <a:latin typeface="Noto Sans CJK SC"/>
                        </a:rPr>
                        <a:t>京东 JoyAI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JoyAI-RA 0.1 是 VLA，JoyAI-RA 0.5 是 VLWA 框架，含 VLM、世界模型和 action expert。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345" b="0">
                          <a:solidFill>
                            <a:srgbClr val="000000"/>
                          </a:solidFill>
                          <a:latin typeface="Noto Sans CJK SC"/>
                        </a:rPr>
                        <a:t>京东云/JoyInside 提供生态与云侧能力，机器人本体端侧算力未公开。</a:t>
                      </a: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  <a:tc>
                  <a:txBody>
                    <a:bodyPr wrap="square" lIns="13716" rIns="13716" tIns="9144" bIns="5486"/>
                    <a:lstStyle/>
                    <a:p>
                      <a:pPr algn="l">
                        <a:lnSpc>
                          <a:spcPct val="88000"/>
                        </a:lnSpc>
                      </a:pPr>
                    </a:p>
                  </a:txBody>
                  <a:tcPr anchor="t">
                    <a:solidFill>
                      <a:srgbClr val="FFFFFF"/>
                    </a:solidFill>
                    <a:lnL w="3600">
                      <a:solidFill>
                        <a:srgbClr val="B2B2B2"/>
                      </a:solidFill>
                    </a:lnL>
                    <a:lnR w="3600">
                      <a:solidFill>
                        <a:srgbClr val="B2B2B2"/>
                      </a:solidFill>
                    </a:lnR>
                    <a:lnT w="3600">
                      <a:solidFill>
                        <a:srgbClr val="B2B2B2"/>
                      </a:solidFill>
                    </a:lnT>
                    <a:lnB w="3600">
                      <a:solidFill>
                        <a:srgbClr val="B2B2B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201168" y="5943600"/>
            <a:ext cx="11795760" cy="667512"/>
          </a:xfrm>
          <a:prstGeom prst="rect">
            <a:avLst/>
          </a:prstGeom>
          <a:solidFill>
            <a:srgbClr val="F7F8F9"/>
          </a:solidFill>
          <a:ln w="6350">
            <a:solidFill>
              <a:srgbClr val="B2B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5998464"/>
            <a:ext cx="11384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70">
                <a:solidFill>
                  <a:srgbClr val="000000"/>
                </a:solidFill>
                <a:latin typeface="Noto Sans CJK SC"/>
              </a:rPr>
              <a:t>1. 端侧算力已分层：70TOPS（云深处/Aura）、80/100TOPS（星尘S100/宇树G1-D/魔法Gen1）、560/700TOPS（S600/智元/星海图/星尘IRB10）、1000TOPS（灵境N1100），NVIDIA Thor/T5000 已到 2070 FP4 TFLOPS。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281927"/>
            <a:ext cx="11384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70">
                <a:solidFill>
                  <a:srgbClr val="000000"/>
                </a:solidFill>
                <a:latin typeface="Noto Sans CJK SC"/>
              </a:rPr>
              <a:t>2. 部署前景：1-7B VLA/LLM 与 3B VLM/30Hz 更适合纯端侧；72B/100B 大脑更适合端云协同，端侧承担安全、离线和快反应，云侧承担规划、调度和持续迭代。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629400"/>
            <a:ext cx="117957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00">
                <a:solidFill>
                  <a:srgbClr val="000000"/>
                </a:solidFill>
                <a:latin typeface="Noto Sans CJK SC"/>
              </a:rPr>
              <a:t>来源见同仓库 README；表内空白表示未检索到公开量化信息。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