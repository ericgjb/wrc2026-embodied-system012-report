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" y="73152"/>
            <a:ext cx="896112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Microsoft YaHei UI"/>
              </a:rPr>
              <a:t>WRC/WAIC 2026 机器人“大脑”部署方式与模型硬数据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9601200" cy="1463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660" b="0">
                <a:solidFill>
                  <a:srgbClr val="000000"/>
                </a:solidFill>
                <a:latin typeface="Microsoft YaHei UI"/>
              </a:rPr>
              <a:t>按 13 家/项目统计部署方式占比；第一列合并显示定义、优缺点和采用比例。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592" y="621792"/>
          <a:ext cx="11868912" cy="5248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/>
                <a:gridCol w="1060704"/>
                <a:gridCol w="3017520"/>
                <a:gridCol w="1691640"/>
                <a:gridCol w="2761488"/>
                <a:gridCol w="1764792"/>
              </a:tblGrid>
              <a:tr h="310896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90" b="1">
                          <a:solidFill>
                            <a:srgbClr val="000000"/>
                          </a:solidFill>
                          <a:latin typeface="Microsoft YaHei UI"/>
                        </a:rPr>
                        <a:t>部署方式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90" b="1">
                          <a:solidFill>
                            <a:srgbClr val="000000"/>
                          </a:solidFill>
                          <a:latin typeface="Microsoft YaHei UI"/>
                        </a:rPr>
                        <a:t>玩家/项目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90" b="1">
                          <a:solidFill>
                            <a:srgbClr val="000000"/>
                          </a:solidFill>
                          <a:latin typeface="Microsoft YaHei UI"/>
                        </a:rPr>
                        <a:t>大脑模型、架构和参数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90" b="1">
                          <a:solidFill>
                            <a:srgbClr val="000000"/>
                          </a:solidFill>
                          <a:latin typeface="Microsoft YaHei UI"/>
                        </a:rPr>
                        <a:t>小脑模型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90" b="1">
                          <a:solidFill>
                            <a:srgbClr val="000000"/>
                          </a:solidFill>
                          <a:latin typeface="Microsoft YaHei UI"/>
                        </a:rPr>
                        <a:t>算力与部署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90" b="1">
                          <a:solidFill>
                            <a:srgbClr val="000000"/>
                          </a:solidFill>
                          <a:latin typeface="Microsoft YaHei UI"/>
                        </a:rPr>
                        <a:t>推理频率/延迟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</a:tr>
              <a:tr h="379827">
                <a:tc rowSpan="7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>纯端侧/本体端侧：模型或智脑设备主要在机器人本体运行。优点是离线可用、低时延和数据不出端；缺点是受功耗、显存和散热约束。当前 7/13 家，占 53.8%。</a:t>
                      </a:r>
                    </a:p>
                  </a:txBody>
                  <a:tcPr anchor="ctr" marL="32004" marR="32004" marT="10972" marB="10972">
                    <a:solidFill>
                      <a:srgbClr val="ECF2F7"/>
                    </a:solidFill>
                    <a:lnL w="3200">
                      <a:solidFill>
                        <a:srgbClr val="AAB8C6"/>
                      </a:solidFill>
                    </a:lnL>
                    <a:lnR w="3200">
                      <a:solidFill>
                        <a:srgbClr val="AAB8C6"/>
                      </a:solidFill>
                    </a:lnR>
                    <a:lnT w="3200">
                      <a:solidFill>
                        <a:srgbClr val="AAB8C6"/>
                      </a:solidFill>
                    </a:lnT>
                    <a:lnB w="3200">
                      <a:solidFill>
                        <a:srgbClr val="AAB8C6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科大讯飞/灵境智源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>讯飞机器人大脑采用 MScape N1100/MS-N1100 端侧具身智脑设备，具体大脑模型未公开。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>N1100 以 Xenomai 硬实时和 EtherCAT 接口支撑控制，但未公开独立小脑模型。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>N1100 官方披露 1000 TOPS；会场口径为可按网络切换云+端或纯端侧，核心为 Jetson T5000、可选 T4000，其中 T5000 官方规格为 2070 FP4 TFLOPS、128GB、40-130W。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中国兵器/杭州智元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具身大脑通用套件基于多模态大模型构建“感知-记忆-规划-执行-反思”自主决策闭环，模型参数未公开。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公开稿披露具身大脑通用套件和机动抗毁边缘云；会场观察为端侧大脑设备无网可用，但智能弱于云侧大脑。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蚂蚁灵波 Robbyant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>LingBot-VLA 2.0 是 6B VLA，采用 Sparse MoE Action Expert；LingBot-VA 2.0 是约 5B DiT 世界动作模型，LingBot-Vision 为 1B，LingBot-World 参数未公开。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>LingBot-VLA 2.0 在 RTX 4090D 本地推理；LingBot-VA 需要约 18-24GB VRAM；LingBot-Depth 提供 edge-side SDK。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>LingBot-VLA 2.0 单次推理约 130ms；LingBot-World 2.0 标称 720p/60fps，控制延迟低于 1s。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MiniCPM-Robot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MiniCPM-RobotManip 是 1.5B 通用操作 VLA，MiniCPM-RobotTrack 是 0.9B 目标跟踪 VLA。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RobotManip 可在 H100/H20 推理，RobotTrack 可部署在 Jetson Orin NX 16GB。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H100 BF16 单帧前向 120ms；H20 推理从 10Hz 提升至 37Hz；Go2 本地跟踪 5+FPS、约 180ms。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地瓜机器人/它石智航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RDK S600 已适配 3B 参数级具身大模型，模型名称未公开。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RDK S600 提供 560 TOPS INT8、32/64GB LPDDR5 和 204.8GB/s 内存带宽。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星海图 Galaxea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>G0.5 是自回归 VLA，基于 Qwen3.5 2B 初始化；Fast-WAM/GigaWorld-Policy-0.5 是世界动作模型，模型总参数未公开。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>星海图披露高性能运动小脑和全身控制基础模型，但未公开参数。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>R1 Lite 原生支持端侧模型部署；Nexo 700 TOPS 为 WRC 会场口径，待公开链接。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>Fast-WAM 单步约 190ms；GigaWorld-Policy-0.5 在 A100 为 189ms、RTX 4090 为 110ms、C++ 部署为 85ms。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蔚蓝智能 BabyAlpha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BabyAlpha A3 本地运行 7B 交互大模型，用于对话和环境识别。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BabyAlpha A3 本地端侧运行，芯片型号未公开。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rowSpan="3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>端云协同：端侧处理高实时能力，云侧处理慢推理和多机调度。优点是兼顾低延迟和更强模型；缺点是依赖网络与系统编排。当前 3/13 家，占 23.1%。</a:t>
                      </a:r>
                    </a:p>
                  </a:txBody>
                  <a:tcPr anchor="ctr" marL="32004" marR="32004" marT="10972" marB="10972">
                    <a:solidFill>
                      <a:srgbClr val="ECF2F7"/>
                    </a:solidFill>
                    <a:lnL w="3200">
                      <a:solidFill>
                        <a:srgbClr val="AAB8C6"/>
                      </a:solidFill>
                    </a:lnL>
                    <a:lnR w="3200">
                      <a:solidFill>
                        <a:srgbClr val="AAB8C6"/>
                      </a:solidFill>
                    </a:lnR>
                    <a:lnT w="3200">
                      <a:solidFill>
                        <a:srgbClr val="AAB8C6"/>
                      </a:solidFill>
                    </a:lnT>
                    <a:lnB w="3200">
                      <a:solidFill>
                        <a:srgbClr val="AAB8C6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优必选 UBTECH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Thinker 是最大 100B 的具身基座模型，Thinker-VLA 负责动作执行，Thinker-WM 是世界模型。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优必选将高实时能力放在端侧，云端承担慢推理、多机调度和模型管理；VLA 端侧显存需求从 64GB 优化至 32GB。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VLA 推理效率提升 176%。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智元机器人 AGIBOT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GO-1/GO-2 是具身基座模型，GE-2 是世界模型，Genie Evolver 1.0 是闭环真机强化学习系统，参数未公开。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>Action Expert 负责精细动作执行，参数未公开。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A3 Ultra 公开披露 700 TOPS 端侧具身处理器。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二手口径称 GO-1/GO-2 可在边缘端 10Hz-20Hz 推理，官方 Hz 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北京人形/天工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>Pelican-Unify 是统一表征具身世界模型，集成 VLM、action model 和 WFM；PelicanVLM 是 72B 视觉语言大模型，XR-1 是跨本体 VLA。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>北京人形披露全身控制自主导航系统，但未公开参数。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>Pelican-Unify 已在天轶真机部署跑通；天工 Omni 采用端侧原生智能架构并支持大模型边缘部署。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rowSpan="3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75" b="0">
                          <a:solidFill>
                            <a:srgbClr val="000000"/>
                          </a:solidFill>
                          <a:latin typeface="Microsoft YaHei UI"/>
                        </a:rPr>
                        <a:t>云侧/平台未明：公开资料未说明生产部署方式，或大脑更像平台/研究模型。优点是模型尺度和训练迭代空间更大；缺点是离线能力与实时性不确定。当前 3/13 家，占 23.1%。</a:t>
                      </a:r>
                    </a:p>
                  </a:txBody>
                  <a:tcPr anchor="ctr" marL="32004" marR="32004" marT="10972" marB="10972">
                    <a:solidFill>
                      <a:srgbClr val="ECF2F7"/>
                    </a:solidFill>
                    <a:lnL w="3200">
                      <a:solidFill>
                        <a:srgbClr val="AAB8C6"/>
                      </a:solidFill>
                    </a:lnL>
                    <a:lnR w="3200">
                      <a:solidFill>
                        <a:srgbClr val="AAB8C6"/>
                      </a:solidFill>
                    </a:lnR>
                    <a:lnT w="3200">
                      <a:solidFill>
                        <a:srgbClr val="AAB8C6"/>
                      </a:solidFill>
                    </a:lnT>
                    <a:lnB w="3200">
                      <a:solidFill>
                        <a:srgbClr val="AAB8C6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银河通用 Galbot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>LDA-1B 是 1B 隐式世界-动作基础模型，AstraBrain WAM 是世界动作模型，GraspVLA/GroceryVLA/TrackVLA 是技能 VLA。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>AstraBrain-WBC 0.5 是 8040 万参数全身实时运控小脑。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>AstraBrain-WBC 0.5 公开测试使用单张 RTX 4090，并支持 Jetson Orin onboard deployment；LDA-1B 生产部署算力未公开。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1" b="0">
                          <a:solidFill>
                            <a:srgbClr val="000000"/>
                          </a:solidFill>
                          <a:latin typeface="Microsoft YaHei UI"/>
                        </a:rPr>
                        <a:t>AstraBrain-WBC 0.5 在 RTX 4090 上推理低于 1.5ms，可满足 50Hz 闭环。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智平方 AI2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AlphaBrain 是具身大模型，GOVLA/FiS-VLA 是采用异构输入和异步频率的双系统 VLA，参数未公开。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自变量 X Square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WALL-B 是世界统一模型，Wall-OSS-0.5 是端到端预训练模型，参数未公开。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>模型已上真机，端云分工未公开。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2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64592" y="5998464"/>
            <a:ext cx="11868912" cy="621792"/>
          </a:xfrm>
          <a:prstGeom prst="rect">
            <a:avLst/>
          </a:prstGeom>
          <a:solidFill>
            <a:srgbClr val="E8EDF2"/>
          </a:solidFill>
          <a:ln>
            <a:solidFill>
              <a:srgbClr val="B4C0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" y="6099048"/>
            <a:ext cx="150876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icrosoft YaHei UI"/>
              </a:rPr>
              <a:t>端侧算力与模型能力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1952" y="6071616"/>
            <a:ext cx="3977639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545" b="0">
                <a:solidFill>
                  <a:srgbClr val="000000"/>
                </a:solidFill>
                <a:latin typeface="Microsoft YaHei UI"/>
              </a:rPr>
              <a:t>端侧大脑已进入 700-1000 TOPS 和 1200-2070 FP4 TFLOPS 档；1.5B/0.9B VLA 可到 H20 37Hz，6B VLA 本地约 130ms。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4768" y="6099048"/>
            <a:ext cx="150876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icrosoft YaHei UI"/>
              </a:rPr>
              <a:t>端侧化与端云协同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7536" y="6071616"/>
            <a:ext cx="3977639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545" b="0">
                <a:solidFill>
                  <a:srgbClr val="000000"/>
                </a:solidFill>
                <a:latin typeface="Microsoft YaHei UI"/>
              </a:rPr>
              <a:t>端侧负责断网可用、低时延和隐私，云侧负责更大模型、慢推理和多机调度；典型参照是 100B Thinker 与 72B PelicanVLM。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6647688"/>
            <a:ext cx="11521440" cy="1097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440" b="0">
                <a:solidFill>
                  <a:srgbClr val="000000"/>
                </a:solidFill>
                <a:latin typeface="Microsoft YaHei UI"/>
              </a:rPr>
              <a:t>* Nexo 700TOPS、中国兵器无网端侧大脑、讯飞 MS-N1100 云端/纯端切换为会场口径；公开网页未完整披露具体模型。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