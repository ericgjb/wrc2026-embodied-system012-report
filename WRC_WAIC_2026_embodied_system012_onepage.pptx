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0584"/>
            <a:ext cx="896112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21B26"/>
                </a:solidFill>
                <a:latin typeface="Microsoft YaHei UI"/>
              </a:rPr>
              <a:t>WRC/WAIC 2026 机器人“大脑模型”量化对比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429768"/>
            <a:ext cx="98755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0"/>
              </a:spcAft>
            </a:pPr>
            <a:r>
              <a:rPr sz="720" b="0">
                <a:solidFill>
                  <a:srgbClr val="566372"/>
                </a:solidFill>
                <a:latin typeface="Microsoft YaHei UI"/>
              </a:rPr>
              <a:t>仅保留 VLA、世界模型/WAM、具身基座模型与端侧部署数据；空白代表当前公开资料未给出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85248" y="128016"/>
            <a:ext cx="1874519" cy="283464"/>
          </a:xfrm>
          <a:prstGeom prst="roundRect">
            <a:avLst>
              <a:gd name="adj" fmla="val 12000"/>
            </a:avLst>
          </a:prstGeom>
          <a:solidFill>
            <a:srgbClr val="E1F1F4"/>
          </a:solidFill>
          <a:ln>
            <a:solidFill>
              <a:srgbClr val="B4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40" b="1">
                <a:solidFill>
                  <a:srgbClr val="0F5766"/>
                </a:solidFill>
                <a:latin typeface="Microsoft YaHei UI"/>
              </a:rPr>
              <a:t>一页版 | 2026-08-29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01168" y="667512"/>
          <a:ext cx="11795759" cy="5230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0704"/>
                <a:gridCol w="2103120"/>
                <a:gridCol w="1965960"/>
                <a:gridCol w="2084831"/>
                <a:gridCol w="2404872"/>
                <a:gridCol w="2176272"/>
              </a:tblGrid>
              <a:tr h="310896"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0" b="1">
                          <a:solidFill>
                            <a:srgbClr val="FFFFFF"/>
                          </a:solidFill>
                          <a:latin typeface="Microsoft YaHei UI"/>
                        </a:rPr>
                        <a:t>玩家/项目</a:t>
                      </a:r>
                    </a:p>
                  </a:txBody>
                  <a:tcPr anchor="ctr" marL="32004" marR="32004" marT="10972" marB="10972">
                    <a:solidFill>
                      <a:srgbClr val="0D4452"/>
                    </a:solidFill>
                    <a:lnL w="4200">
                      <a:solidFill>
                        <a:srgbClr val="0D4452"/>
                      </a:solidFill>
                    </a:lnL>
                    <a:lnR w="4200">
                      <a:solidFill>
                        <a:srgbClr val="0D4452"/>
                      </a:solidFill>
                    </a:lnR>
                    <a:lnT w="4200">
                      <a:solidFill>
                        <a:srgbClr val="0D4452"/>
                      </a:solidFill>
                    </a:lnT>
                    <a:lnB w="4200">
                      <a:solidFill>
                        <a:srgbClr val="0D4452"/>
                      </a:solidFill>
                    </a:lnB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0" b="1">
                          <a:solidFill>
                            <a:srgbClr val="FFFFFF"/>
                          </a:solidFill>
                          <a:latin typeface="Microsoft YaHei UI"/>
                        </a:rPr>
                        <a:t>大脑模型</a:t>
                      </a:r>
                    </a:p>
                  </a:txBody>
                  <a:tcPr anchor="ctr" marL="32004" marR="32004" marT="10972" marB="10972">
                    <a:solidFill>
                      <a:srgbClr val="0D4452"/>
                    </a:solidFill>
                    <a:lnL w="4200">
                      <a:solidFill>
                        <a:srgbClr val="0D4452"/>
                      </a:solidFill>
                    </a:lnL>
                    <a:lnR w="4200">
                      <a:solidFill>
                        <a:srgbClr val="0D4452"/>
                      </a:solidFill>
                    </a:lnR>
                    <a:lnT w="4200">
                      <a:solidFill>
                        <a:srgbClr val="0D4452"/>
                      </a:solidFill>
                    </a:lnT>
                    <a:lnB w="4200">
                      <a:solidFill>
                        <a:srgbClr val="0D4452"/>
                      </a:solidFill>
                    </a:lnB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0" b="1">
                          <a:solidFill>
                            <a:srgbClr val="FFFFFF"/>
                          </a:solidFill>
                          <a:latin typeface="Microsoft YaHei UI"/>
                        </a:rPr>
                        <a:t>模型架构</a:t>
                      </a:r>
                    </a:p>
                  </a:txBody>
                  <a:tcPr anchor="ctr" marL="32004" marR="32004" marT="10972" marB="10972">
                    <a:solidFill>
                      <a:srgbClr val="0D4452"/>
                    </a:solidFill>
                    <a:lnL w="4200">
                      <a:solidFill>
                        <a:srgbClr val="0D4452"/>
                      </a:solidFill>
                    </a:lnL>
                    <a:lnR w="4200">
                      <a:solidFill>
                        <a:srgbClr val="0D4452"/>
                      </a:solidFill>
                    </a:lnR>
                    <a:lnT w="4200">
                      <a:solidFill>
                        <a:srgbClr val="0D4452"/>
                      </a:solidFill>
                    </a:lnT>
                    <a:lnB w="4200">
                      <a:solidFill>
                        <a:srgbClr val="0D4452"/>
                      </a:solidFill>
                    </a:lnB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0" b="1">
                          <a:solidFill>
                            <a:srgbClr val="FFFFFF"/>
                          </a:solidFill>
                          <a:latin typeface="Microsoft YaHei UI"/>
                        </a:rPr>
                        <a:t>参数量 / 数据</a:t>
                      </a:r>
                    </a:p>
                  </a:txBody>
                  <a:tcPr anchor="ctr" marL="32004" marR="32004" marT="10972" marB="10972">
                    <a:solidFill>
                      <a:srgbClr val="0D4452"/>
                    </a:solidFill>
                    <a:lnL w="4200">
                      <a:solidFill>
                        <a:srgbClr val="0D4452"/>
                      </a:solidFill>
                    </a:lnL>
                    <a:lnR w="4200">
                      <a:solidFill>
                        <a:srgbClr val="0D4452"/>
                      </a:solidFill>
                    </a:lnR>
                    <a:lnT w="4200">
                      <a:solidFill>
                        <a:srgbClr val="0D4452"/>
                      </a:solidFill>
                    </a:lnT>
                    <a:lnB w="4200">
                      <a:solidFill>
                        <a:srgbClr val="0D4452"/>
                      </a:solidFill>
                    </a:lnB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0" b="1">
                          <a:solidFill>
                            <a:srgbClr val="FFFFFF"/>
                          </a:solidFill>
                          <a:latin typeface="Microsoft YaHei UI"/>
                        </a:rPr>
                        <a:t>算力与部署</a:t>
                      </a:r>
                    </a:p>
                  </a:txBody>
                  <a:tcPr anchor="ctr" marL="32004" marR="32004" marT="10972" marB="10972">
                    <a:solidFill>
                      <a:srgbClr val="0D4452"/>
                    </a:solidFill>
                    <a:lnL w="4200">
                      <a:solidFill>
                        <a:srgbClr val="0D4452"/>
                      </a:solidFill>
                    </a:lnL>
                    <a:lnR w="4200">
                      <a:solidFill>
                        <a:srgbClr val="0D4452"/>
                      </a:solidFill>
                    </a:lnR>
                    <a:lnT w="4200">
                      <a:solidFill>
                        <a:srgbClr val="0D4452"/>
                      </a:solidFill>
                    </a:lnT>
                    <a:lnB w="4200">
                      <a:solidFill>
                        <a:srgbClr val="0D4452"/>
                      </a:solidFill>
                    </a:lnB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0" b="1">
                          <a:solidFill>
                            <a:srgbClr val="FFFFFF"/>
                          </a:solidFill>
                          <a:latin typeface="Microsoft YaHei UI"/>
                        </a:rPr>
                        <a:t>推理频率 / 延迟</a:t>
                      </a:r>
                    </a:p>
                  </a:txBody>
                  <a:tcPr anchor="ctr" marL="32004" marR="32004" marT="10972" marB="10972">
                    <a:solidFill>
                      <a:srgbClr val="0D4452"/>
                    </a:solidFill>
                    <a:lnL w="4200">
                      <a:solidFill>
                        <a:srgbClr val="0D4452"/>
                      </a:solidFill>
                    </a:lnL>
                    <a:lnR w="4200">
                      <a:solidFill>
                        <a:srgbClr val="0D4452"/>
                      </a:solidFill>
                    </a:lnR>
                    <a:lnT w="4200">
                      <a:solidFill>
                        <a:srgbClr val="0D4452"/>
                      </a:solidFill>
                    </a:lnT>
                    <a:lnB w="4200">
                      <a:solidFill>
                        <a:srgbClr val="0D4452"/>
                      </a:solidFill>
                    </a:lnB>
                  </a:tcPr>
                </a:tc>
              </a:tr>
              <a:tr h="409956"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35" b="1">
                          <a:solidFill>
                            <a:srgbClr val="0F5766"/>
                          </a:solidFill>
                          <a:latin typeface="Microsoft YaHei UI"/>
                        </a:rPr>
                        <a:t>优必选</a:t>
                      </a:r>
                    </a:p>
                    <a:p>
                      <a:pPr algn="ctr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35" b="1">
                          <a:solidFill>
                            <a:srgbClr val="0F5766"/>
                          </a:solidFill>
                          <a:latin typeface="Microsoft YaHei UI"/>
                        </a:rPr>
                        <a:t>UBTECH</a:t>
                      </a:r>
                    </a:p>
                  </a:txBody>
                  <a:tcPr anchor="ctr" marL="32004" marR="32004" marT="10972" marB="10972">
                    <a:solidFill>
                      <a:srgbClr val="FFFFFF"/>
                    </a:solidFill>
                    <a:lnL w="3000">
                      <a:solidFill>
                        <a:srgbClr val="C1CDD9"/>
                      </a:solidFill>
                    </a:lnL>
                    <a:lnR w="3000">
                      <a:solidFill>
                        <a:srgbClr val="C1CDD9"/>
                      </a:solidFill>
                    </a:lnR>
                    <a:lnT w="3000">
                      <a:solidFill>
                        <a:srgbClr val="C1CDD9"/>
                      </a:solidFill>
                    </a:lnT>
                    <a:lnB w="3000">
                      <a:solidFill>
                        <a:srgbClr val="C1CDD9"/>
                      </a:solidFill>
                    </a:lnB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35" b="0">
                          <a:solidFill>
                            <a:srgbClr val="121B26"/>
                          </a:solidFill>
                          <a:latin typeface="Microsoft YaHei UI"/>
                        </a:rPr>
                        <a:t>Thinker</a:t>
                      </a:r>
                    </a:p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35" b="0">
                          <a:solidFill>
                            <a:srgbClr val="121B26"/>
                          </a:solidFill>
                          <a:latin typeface="Microsoft YaHei UI"/>
                        </a:rPr>
                        <a:t>Thinker-VLA</a:t>
                      </a:r>
                    </a:p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35" b="0">
                          <a:solidFill>
                            <a:srgbClr val="121B26"/>
                          </a:solidFill>
                          <a:latin typeface="Microsoft YaHei UI"/>
                        </a:rPr>
                        <a:t>Thinker-WM</a:t>
                      </a:r>
                    </a:p>
                  </a:txBody>
                  <a:tcPr anchor="ctr" marL="32004" marR="32004" marT="10972" marB="10972">
                    <a:solidFill>
                      <a:srgbClr val="FFFFFF"/>
                    </a:solidFill>
                    <a:lnL w="3000">
                      <a:solidFill>
                        <a:srgbClr val="C1CDD9"/>
                      </a:solidFill>
                    </a:lnL>
                    <a:lnR w="3000">
                      <a:solidFill>
                        <a:srgbClr val="C1CDD9"/>
                      </a:solidFill>
                    </a:lnR>
                    <a:lnT w="3000">
                      <a:solidFill>
                        <a:srgbClr val="C1CDD9"/>
                      </a:solidFill>
                    </a:lnT>
                    <a:lnB w="3000">
                      <a:solidFill>
                        <a:srgbClr val="C1CDD9"/>
                      </a:solidFill>
                    </a:lnB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35" b="0">
                          <a:solidFill>
                            <a:srgbClr val="121B26"/>
                          </a:solidFill>
                          <a:latin typeface="Microsoft YaHei UI"/>
                        </a:rPr>
                        <a:t>基座模型</a:t>
                      </a:r>
                    </a:p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35" b="0">
                          <a:solidFill>
                            <a:srgbClr val="121B26"/>
                          </a:solidFill>
                          <a:latin typeface="Microsoft YaHei UI"/>
                        </a:rPr>
                        <a:t>VLA</a:t>
                      </a:r>
                    </a:p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35" b="0">
                          <a:solidFill>
                            <a:srgbClr val="121B26"/>
                          </a:solidFill>
                          <a:latin typeface="Microsoft YaHei UI"/>
                        </a:rPr>
                        <a:t>世界模型</a:t>
                      </a:r>
                    </a:p>
                  </a:txBody>
                  <a:tcPr anchor="ctr" marL="32004" marR="32004" marT="10972" marB="10972">
                    <a:solidFill>
                      <a:srgbClr val="FFFFFF"/>
                    </a:solidFill>
                    <a:lnL w="3000">
                      <a:solidFill>
                        <a:srgbClr val="C1CDD9"/>
                      </a:solidFill>
                    </a:lnL>
                    <a:lnR w="3000">
                      <a:solidFill>
                        <a:srgbClr val="C1CDD9"/>
                      </a:solidFill>
                    </a:lnR>
                    <a:lnT w="3000">
                      <a:solidFill>
                        <a:srgbClr val="C1CDD9"/>
                      </a:solidFill>
                    </a:lnT>
                    <a:lnB w="3000">
                      <a:solidFill>
                        <a:srgbClr val="C1CDD9"/>
                      </a:solidFill>
                    </a:lnB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5" b="0">
                          <a:solidFill>
                            <a:srgbClr val="121B26"/>
                          </a:solidFill>
                          <a:latin typeface="Microsoft YaHei UI"/>
                        </a:rPr>
                        <a:t>Thinker 最大100B</a:t>
                      </a:r>
                    </a:p>
                  </a:txBody>
                  <a:tcPr anchor="ctr" marL="32004" marR="32004" marT="10972" marB="10972">
                    <a:solidFill>
                      <a:srgbClr val="FFFFFF"/>
                    </a:solidFill>
                    <a:lnL w="3000">
                      <a:solidFill>
                        <a:srgbClr val="C1CDD9"/>
                      </a:solidFill>
                    </a:lnL>
                    <a:lnR w="3000">
                      <a:solidFill>
                        <a:srgbClr val="C1CDD9"/>
                      </a:solidFill>
                    </a:lnR>
                    <a:lnT w="3000">
                      <a:solidFill>
                        <a:srgbClr val="C1CDD9"/>
                      </a:solidFill>
                    </a:lnT>
                    <a:lnB w="3000">
                      <a:solidFill>
                        <a:srgbClr val="C1CDD9"/>
                      </a:solidFill>
                    </a:lnB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5" b="0">
                          <a:solidFill>
                            <a:srgbClr val="121B26"/>
                          </a:solidFill>
                          <a:latin typeface="Microsoft YaHei UI"/>
                        </a:rPr>
                        <a:t>端侧GPU显存</a:t>
                      </a:r>
                    </a:p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5" b="0">
                          <a:solidFill>
                            <a:srgbClr val="121B26"/>
                          </a:solidFill>
                          <a:latin typeface="Microsoft YaHei UI"/>
                        </a:rPr>
                        <a:t>64GB→32GB</a:t>
                      </a:r>
                    </a:p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5" b="0">
                          <a:solidFill>
                            <a:srgbClr val="121B26"/>
                          </a:solidFill>
                          <a:latin typeface="Microsoft YaHei UI"/>
                        </a:rPr>
                        <a:t>Orin 64GB可迁移32GB</a:t>
                      </a:r>
                    </a:p>
                  </a:txBody>
                  <a:tcPr anchor="ctr" marL="32004" marR="32004" marT="10972" marB="10972">
                    <a:solidFill>
                      <a:srgbClr val="FFFFFF"/>
                    </a:solidFill>
                    <a:lnL w="3000">
                      <a:solidFill>
                        <a:srgbClr val="C1CDD9"/>
                      </a:solidFill>
                    </a:lnL>
                    <a:lnR w="3000">
                      <a:solidFill>
                        <a:srgbClr val="C1CDD9"/>
                      </a:solidFill>
                    </a:lnR>
                    <a:lnT w="3000">
                      <a:solidFill>
                        <a:srgbClr val="C1CDD9"/>
                      </a:solidFill>
                    </a:lnT>
                    <a:lnB w="3000">
                      <a:solidFill>
                        <a:srgbClr val="C1CDD9"/>
                      </a:solidFill>
                    </a:lnB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5" b="0">
                          <a:solidFill>
                            <a:srgbClr val="121B26"/>
                          </a:solidFill>
                          <a:latin typeface="Microsoft YaHei UI"/>
                        </a:rPr>
                        <a:t>推理效率+176%</a:t>
                      </a:r>
                    </a:p>
                  </a:txBody>
                  <a:tcPr anchor="ctr" marL="32004" marR="32004" marT="10972" marB="10972">
                    <a:solidFill>
                      <a:srgbClr val="FFFFFF"/>
                    </a:solidFill>
                    <a:lnL w="3000">
                      <a:solidFill>
                        <a:srgbClr val="C1CDD9"/>
                      </a:solidFill>
                    </a:lnL>
                    <a:lnR w="3000">
                      <a:solidFill>
                        <a:srgbClr val="C1CDD9"/>
                      </a:solidFill>
                    </a:lnR>
                    <a:lnT w="3000">
                      <a:solidFill>
                        <a:srgbClr val="C1CDD9"/>
                      </a:solidFill>
                    </a:lnT>
                    <a:lnB w="3000">
                      <a:solidFill>
                        <a:srgbClr val="C1CDD9"/>
                      </a:solidFill>
                    </a:lnB>
                  </a:tcPr>
                </a:tc>
              </a:tr>
              <a:tr h="409956"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35" b="1">
                          <a:solidFill>
                            <a:srgbClr val="0F5766"/>
                          </a:solidFill>
                          <a:latin typeface="Microsoft YaHei UI"/>
                        </a:rPr>
                        <a:t>银河通用</a:t>
                      </a:r>
                    </a:p>
                    <a:p>
                      <a:pPr algn="ctr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35" b="1">
                          <a:solidFill>
                            <a:srgbClr val="0F5766"/>
                          </a:solidFill>
                          <a:latin typeface="Microsoft YaHei UI"/>
                        </a:rPr>
                        <a:t>Galbot</a:t>
                      </a:r>
                    </a:p>
                  </a:txBody>
                  <a:tcPr anchor="ctr" marL="32004" marR="32004" marT="10972" marB="10972">
                    <a:solidFill>
                      <a:srgbClr val="EEF3F7"/>
                    </a:solidFill>
                    <a:lnL w="3000">
                      <a:solidFill>
                        <a:srgbClr val="C1CDD9"/>
                      </a:solidFill>
                    </a:lnL>
                    <a:lnR w="3000">
                      <a:solidFill>
                        <a:srgbClr val="C1CDD9"/>
                      </a:solidFill>
                    </a:lnR>
                    <a:lnT w="3000">
                      <a:solidFill>
                        <a:srgbClr val="C1CDD9"/>
                      </a:solidFill>
                    </a:lnT>
                    <a:lnB w="3000">
                      <a:solidFill>
                        <a:srgbClr val="C1CDD9"/>
                      </a:solidFill>
                    </a:lnB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35" b="0">
                          <a:solidFill>
                            <a:srgbClr val="121B26"/>
                          </a:solidFill>
                          <a:latin typeface="Microsoft YaHei UI"/>
                        </a:rPr>
                        <a:t>LDA-1B</a:t>
                      </a:r>
                    </a:p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35" b="0">
                          <a:solidFill>
                            <a:srgbClr val="121B26"/>
                          </a:solidFill>
                          <a:latin typeface="Microsoft YaHei UI"/>
                        </a:rPr>
                        <a:t>AstraBrain WAM</a:t>
                      </a:r>
                    </a:p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35" b="0">
                          <a:solidFill>
                            <a:srgbClr val="121B26"/>
                          </a:solidFill>
                          <a:latin typeface="Microsoft YaHei UI"/>
                        </a:rPr>
                        <a:t>Grasp/Grocery/TrackVLA</a:t>
                      </a:r>
                    </a:p>
                  </a:txBody>
                  <a:tcPr anchor="ctr" marL="32004" marR="32004" marT="10972" marB="10972">
                    <a:solidFill>
                      <a:srgbClr val="EEF3F7"/>
                    </a:solidFill>
                    <a:lnL w="3000">
                      <a:solidFill>
                        <a:srgbClr val="C1CDD9"/>
                      </a:solidFill>
                    </a:lnL>
                    <a:lnR w="3000">
                      <a:solidFill>
                        <a:srgbClr val="C1CDD9"/>
                      </a:solidFill>
                    </a:lnR>
                    <a:lnT w="3000">
                      <a:solidFill>
                        <a:srgbClr val="C1CDD9"/>
                      </a:solidFill>
                    </a:lnT>
                    <a:lnB w="3000">
                      <a:solidFill>
                        <a:srgbClr val="C1CDD9"/>
                      </a:solidFill>
                    </a:lnB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35" b="0">
                          <a:solidFill>
                            <a:srgbClr val="121B26"/>
                          </a:solidFill>
                          <a:latin typeface="Microsoft YaHei UI"/>
                        </a:rPr>
                        <a:t>隐式世界-动作模型</a:t>
                      </a:r>
                    </a:p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35" b="0">
                          <a:solidFill>
                            <a:srgbClr val="121B26"/>
                          </a:solidFill>
                          <a:latin typeface="Microsoft YaHei UI"/>
                        </a:rPr>
                        <a:t>WAM</a:t>
                      </a:r>
                    </a:p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35" b="0">
                          <a:solidFill>
                            <a:srgbClr val="121B26"/>
                          </a:solidFill>
                          <a:latin typeface="Microsoft YaHei UI"/>
                        </a:rPr>
                        <a:t>VLA</a:t>
                      </a:r>
                    </a:p>
                  </a:txBody>
                  <a:tcPr anchor="ctr" marL="32004" marR="32004" marT="10972" marB="10972">
                    <a:solidFill>
                      <a:srgbClr val="EEF3F7"/>
                    </a:solidFill>
                    <a:lnL w="3000">
                      <a:solidFill>
                        <a:srgbClr val="C1CDD9"/>
                      </a:solidFill>
                    </a:lnL>
                    <a:lnR w="3000">
                      <a:solidFill>
                        <a:srgbClr val="C1CDD9"/>
                      </a:solidFill>
                    </a:lnR>
                    <a:lnT w="3000">
                      <a:solidFill>
                        <a:srgbClr val="C1CDD9"/>
                      </a:solidFill>
                    </a:lnT>
                    <a:lnB w="3000">
                      <a:solidFill>
                        <a:srgbClr val="C1CDD9"/>
                      </a:solidFill>
                    </a:lnB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5" b="0">
                          <a:solidFill>
                            <a:srgbClr val="121B26"/>
                          </a:solidFill>
                          <a:latin typeface="Microsoft YaHei UI"/>
                        </a:rPr>
                        <a:t>LDA-1B：1B</a:t>
                      </a:r>
                    </a:p>
                  </a:txBody>
                  <a:tcPr anchor="ctr" marL="32004" marR="32004" marT="10972" marB="10972">
                    <a:solidFill>
                      <a:srgbClr val="EEF3F7"/>
                    </a:solidFill>
                    <a:lnL w="3000">
                      <a:solidFill>
                        <a:srgbClr val="C1CDD9"/>
                      </a:solidFill>
                    </a:lnL>
                    <a:lnR w="3000">
                      <a:solidFill>
                        <a:srgbClr val="C1CDD9"/>
                      </a:solidFill>
                    </a:lnR>
                    <a:lnT w="3000">
                      <a:solidFill>
                        <a:srgbClr val="C1CDD9"/>
                      </a:solidFill>
                    </a:lnT>
                    <a:lnB w="3000">
                      <a:solidFill>
                        <a:srgbClr val="C1CDD9"/>
                      </a:solidFill>
                    </a:lnB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5" b="0">
                          <a:solidFill>
                            <a:srgbClr val="121B26"/>
                          </a:solidFill>
                          <a:latin typeface="Microsoft YaHei UI"/>
                        </a:rPr>
                        <a:t>跨本体后训练；</a:t>
                      </a:r>
                    </a:p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5" b="0">
                          <a:solidFill>
                            <a:srgbClr val="121B26"/>
                          </a:solidFill>
                          <a:latin typeface="Microsoft YaHei UI"/>
                        </a:rPr>
                        <a:t>生产部署算力未公开</a:t>
                      </a:r>
                    </a:p>
                  </a:txBody>
                  <a:tcPr anchor="ctr" marL="32004" marR="32004" marT="10972" marB="10972">
                    <a:solidFill>
                      <a:srgbClr val="EEF3F7"/>
                    </a:solidFill>
                    <a:lnL w="3000">
                      <a:solidFill>
                        <a:srgbClr val="C1CDD9"/>
                      </a:solidFill>
                    </a:lnL>
                    <a:lnR w="3000">
                      <a:solidFill>
                        <a:srgbClr val="C1CDD9"/>
                      </a:solidFill>
                    </a:lnR>
                    <a:lnT w="3000">
                      <a:solidFill>
                        <a:srgbClr val="C1CDD9"/>
                      </a:solidFill>
                    </a:lnT>
                    <a:lnB w="3000">
                      <a:solidFill>
                        <a:srgbClr val="C1CDD9"/>
                      </a:solidFill>
                    </a:lnB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5" b="0">
                          <a:solidFill>
                            <a:srgbClr val="121B26"/>
                          </a:solidFill>
                          <a:latin typeface="Microsoft YaHei UI"/>
                        </a:rPr>
                        <a:t/>
                      </a:r>
                    </a:p>
                  </a:txBody>
                  <a:tcPr anchor="ctr" marL="32004" marR="32004" marT="10972" marB="10972">
                    <a:solidFill>
                      <a:srgbClr val="EEF3F7"/>
                    </a:solidFill>
                    <a:lnL w="3000">
                      <a:solidFill>
                        <a:srgbClr val="C1CDD9"/>
                      </a:solidFill>
                    </a:lnL>
                    <a:lnR w="3000">
                      <a:solidFill>
                        <a:srgbClr val="C1CDD9"/>
                      </a:solidFill>
                    </a:lnR>
                    <a:lnT w="3000">
                      <a:solidFill>
                        <a:srgbClr val="C1CDD9"/>
                      </a:solidFill>
                    </a:lnT>
                    <a:lnB w="3000">
                      <a:solidFill>
                        <a:srgbClr val="C1CDD9"/>
                      </a:solidFill>
                    </a:lnB>
                  </a:tcPr>
                </a:tc>
              </a:tr>
              <a:tr h="409956"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35" b="1">
                          <a:solidFill>
                            <a:srgbClr val="0F5766"/>
                          </a:solidFill>
                          <a:latin typeface="Microsoft YaHei UI"/>
                        </a:rPr>
                        <a:t>蚂蚁灵波</a:t>
                      </a:r>
                    </a:p>
                    <a:p>
                      <a:pPr algn="ctr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35" b="1">
                          <a:solidFill>
                            <a:srgbClr val="0F5766"/>
                          </a:solidFill>
                          <a:latin typeface="Microsoft YaHei UI"/>
                        </a:rPr>
                        <a:t>Robbyant</a:t>
                      </a:r>
                    </a:p>
                  </a:txBody>
                  <a:tcPr anchor="ctr" marL="32004" marR="32004" marT="10972" marB="10972">
                    <a:solidFill>
                      <a:srgbClr val="FFFFFF"/>
                    </a:solidFill>
                    <a:lnL w="3000">
                      <a:solidFill>
                        <a:srgbClr val="C1CDD9"/>
                      </a:solidFill>
                    </a:lnL>
                    <a:lnR w="3000">
                      <a:solidFill>
                        <a:srgbClr val="C1CDD9"/>
                      </a:solidFill>
                    </a:lnR>
                    <a:lnT w="3000">
                      <a:solidFill>
                        <a:srgbClr val="C1CDD9"/>
                      </a:solidFill>
                    </a:lnT>
                    <a:lnB w="3000">
                      <a:solidFill>
                        <a:srgbClr val="C1CDD9"/>
                      </a:solidFill>
                    </a:lnB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35" b="0">
                          <a:solidFill>
                            <a:srgbClr val="121B26"/>
                          </a:solidFill>
                          <a:latin typeface="Microsoft YaHei UI"/>
                        </a:rPr>
                        <a:t>LingBot-VLA 2.0</a:t>
                      </a:r>
                    </a:p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35" b="0">
                          <a:solidFill>
                            <a:srgbClr val="121B26"/>
                          </a:solidFill>
                          <a:latin typeface="Microsoft YaHei UI"/>
                        </a:rPr>
                        <a:t>LingBot-VA 2.0</a:t>
                      </a:r>
                    </a:p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35" b="0">
                          <a:solidFill>
                            <a:srgbClr val="121B26"/>
                          </a:solidFill>
                          <a:latin typeface="Microsoft YaHei UI"/>
                        </a:rPr>
                        <a:t>LingBot-World/Vision/Depth</a:t>
                      </a:r>
                    </a:p>
                  </a:txBody>
                  <a:tcPr anchor="ctr" marL="32004" marR="32004" marT="10972" marB="10972">
                    <a:solidFill>
                      <a:srgbClr val="FFFFFF"/>
                    </a:solidFill>
                    <a:lnL w="3000">
                      <a:solidFill>
                        <a:srgbClr val="C1CDD9"/>
                      </a:solidFill>
                    </a:lnL>
                    <a:lnR w="3000">
                      <a:solidFill>
                        <a:srgbClr val="C1CDD9"/>
                      </a:solidFill>
                    </a:lnR>
                    <a:lnT w="3000">
                      <a:solidFill>
                        <a:srgbClr val="C1CDD9"/>
                      </a:solidFill>
                    </a:lnT>
                    <a:lnB w="3000">
                      <a:solidFill>
                        <a:srgbClr val="C1CDD9"/>
                      </a:solidFill>
                    </a:lnB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35" b="0">
                          <a:solidFill>
                            <a:srgbClr val="121B26"/>
                          </a:solidFill>
                          <a:latin typeface="Microsoft YaHei UI"/>
                        </a:rPr>
                        <a:t>VLA + MoE Action Expert</a:t>
                      </a:r>
                    </a:p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35" b="0">
                          <a:solidFill>
                            <a:srgbClr val="121B26"/>
                          </a:solidFill>
                          <a:latin typeface="Microsoft YaHei UI"/>
                        </a:rPr>
                        <a:t>Video-Action</a:t>
                      </a:r>
                    </a:p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35" b="0">
                          <a:solidFill>
                            <a:srgbClr val="121B26"/>
                          </a:solidFill>
                          <a:latin typeface="Microsoft YaHei UI"/>
                        </a:rPr>
                        <a:t>世界模型/视觉/深度</a:t>
                      </a:r>
                    </a:p>
                  </a:txBody>
                  <a:tcPr anchor="ctr" marL="32004" marR="32004" marT="10972" marB="10972">
                    <a:solidFill>
                      <a:srgbClr val="FFFFFF"/>
                    </a:solidFill>
                    <a:lnL w="3000">
                      <a:solidFill>
                        <a:srgbClr val="C1CDD9"/>
                      </a:solidFill>
                    </a:lnL>
                    <a:lnR w="3000">
                      <a:solidFill>
                        <a:srgbClr val="C1CDD9"/>
                      </a:solidFill>
                    </a:lnR>
                    <a:lnT w="3000">
                      <a:solidFill>
                        <a:srgbClr val="C1CDD9"/>
                      </a:solidFill>
                    </a:lnT>
                    <a:lnB w="3000">
                      <a:solidFill>
                        <a:srgbClr val="C1CDD9"/>
                      </a:solidFill>
                    </a:lnB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84" b="0">
                          <a:solidFill>
                            <a:srgbClr val="121B26"/>
                          </a:solidFill>
                          <a:latin typeface="Microsoft YaHei UI"/>
                        </a:rPr>
                        <a:t>VLA 6B；VA约5B</a:t>
                      </a:r>
                    </a:p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84" b="0">
                          <a:solidFill>
                            <a:srgbClr val="121B26"/>
                          </a:solidFill>
                          <a:latin typeface="Microsoft YaHei UI"/>
                        </a:rPr>
                        <a:t>Vision 1B</a:t>
                      </a:r>
                    </a:p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84" b="0">
                          <a:solidFill>
                            <a:srgbClr val="121B26"/>
                          </a:solidFill>
                          <a:latin typeface="Microsoft YaHei UI"/>
                        </a:rPr>
                        <a:t>6万h；20+本体</a:t>
                      </a:r>
                    </a:p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84" b="0">
                          <a:solidFill>
                            <a:srgbClr val="121B26"/>
                          </a:solidFill>
                          <a:latin typeface="Microsoft YaHei UI"/>
                        </a:rPr>
                        <a:t>Depth 1.5亿数据</a:t>
                      </a:r>
                    </a:p>
                  </a:txBody>
                  <a:tcPr anchor="ctr" marL="32004" marR="32004" marT="10972" marB="10972">
                    <a:solidFill>
                      <a:srgbClr val="FFFFFF"/>
                    </a:solidFill>
                    <a:lnL w="3000">
                      <a:solidFill>
                        <a:srgbClr val="C1CDD9"/>
                      </a:solidFill>
                    </a:lnL>
                    <a:lnR w="3000">
                      <a:solidFill>
                        <a:srgbClr val="C1CDD9"/>
                      </a:solidFill>
                    </a:lnR>
                    <a:lnT w="3000">
                      <a:solidFill>
                        <a:srgbClr val="C1CDD9"/>
                      </a:solidFill>
                    </a:lnT>
                    <a:lnB w="3000">
                      <a:solidFill>
                        <a:srgbClr val="C1CDD9"/>
                      </a:solidFill>
                    </a:lnB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84" b="0">
                          <a:solidFill>
                            <a:srgbClr val="121B26"/>
                          </a:solidFill>
                          <a:latin typeface="Microsoft YaHei UI"/>
                        </a:rPr>
                        <a:t>VLA：RTX 4090D</a:t>
                      </a:r>
                    </a:p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84" b="0">
                          <a:solidFill>
                            <a:srgbClr val="121B26"/>
                          </a:solidFill>
                          <a:latin typeface="Microsoft YaHei UI"/>
                        </a:rPr>
                        <a:t>VA：18-24GB VRAM</a:t>
                      </a:r>
                    </a:p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84" b="0">
                          <a:solidFill>
                            <a:srgbClr val="121B26"/>
                          </a:solidFill>
                          <a:latin typeface="Microsoft YaHei UI"/>
                        </a:rPr>
                        <a:t>Depth：edge SDK</a:t>
                      </a:r>
                    </a:p>
                  </a:txBody>
                  <a:tcPr anchor="ctr" marL="32004" marR="32004" marT="10972" marB="10972">
                    <a:solidFill>
                      <a:srgbClr val="FFFFFF"/>
                    </a:solidFill>
                    <a:lnL w="3000">
                      <a:solidFill>
                        <a:srgbClr val="C1CDD9"/>
                      </a:solidFill>
                    </a:lnL>
                    <a:lnR w="3000">
                      <a:solidFill>
                        <a:srgbClr val="C1CDD9"/>
                      </a:solidFill>
                    </a:lnR>
                    <a:lnT w="3000">
                      <a:solidFill>
                        <a:srgbClr val="C1CDD9"/>
                      </a:solidFill>
                    </a:lnT>
                    <a:lnB w="3000">
                      <a:solidFill>
                        <a:srgbClr val="C1CDD9"/>
                      </a:solidFill>
                    </a:lnB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84" b="0">
                          <a:solidFill>
                            <a:srgbClr val="121B26"/>
                          </a:solidFill>
                          <a:latin typeface="Microsoft YaHei UI"/>
                        </a:rPr>
                        <a:t>VLA约130ms</a:t>
                      </a:r>
                    </a:p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84" b="0">
                          <a:solidFill>
                            <a:srgbClr val="121B26"/>
                          </a:solidFill>
                          <a:latin typeface="Microsoft YaHei UI"/>
                        </a:rPr>
                        <a:t>World 720p/60fps</a:t>
                      </a:r>
                    </a:p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84" b="0">
                          <a:solidFill>
                            <a:srgbClr val="121B26"/>
                          </a:solidFill>
                          <a:latin typeface="Microsoft YaHei UI"/>
                        </a:rPr>
                        <a:t>控制延迟&lt;1s</a:t>
                      </a:r>
                    </a:p>
                  </a:txBody>
                  <a:tcPr anchor="ctr" marL="32004" marR="32004" marT="10972" marB="10972">
                    <a:solidFill>
                      <a:srgbClr val="FFFFFF"/>
                    </a:solidFill>
                    <a:lnL w="3000">
                      <a:solidFill>
                        <a:srgbClr val="C1CDD9"/>
                      </a:solidFill>
                    </a:lnL>
                    <a:lnR w="3000">
                      <a:solidFill>
                        <a:srgbClr val="C1CDD9"/>
                      </a:solidFill>
                    </a:lnR>
                    <a:lnT w="3000">
                      <a:solidFill>
                        <a:srgbClr val="C1CDD9"/>
                      </a:solidFill>
                    </a:lnT>
                    <a:lnB w="3000">
                      <a:solidFill>
                        <a:srgbClr val="C1CDD9"/>
                      </a:solidFill>
                    </a:lnB>
                  </a:tcPr>
                </a:tc>
              </a:tr>
              <a:tr h="409956"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35" b="1">
                          <a:solidFill>
                            <a:srgbClr val="0F5766"/>
                          </a:solidFill>
                          <a:latin typeface="Microsoft YaHei UI"/>
                        </a:rPr>
                        <a:t>智元</a:t>
                      </a:r>
                    </a:p>
                    <a:p>
                      <a:pPr algn="ctr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35" b="1">
                          <a:solidFill>
                            <a:srgbClr val="0F5766"/>
                          </a:solidFill>
                          <a:latin typeface="Microsoft YaHei UI"/>
                        </a:rPr>
                        <a:t>AGIBOT</a:t>
                      </a:r>
                    </a:p>
                  </a:txBody>
                  <a:tcPr anchor="ctr" marL="32004" marR="32004" marT="10972" marB="10972">
                    <a:solidFill>
                      <a:srgbClr val="EEF3F7"/>
                    </a:solidFill>
                    <a:lnL w="3000">
                      <a:solidFill>
                        <a:srgbClr val="C1CDD9"/>
                      </a:solidFill>
                    </a:lnL>
                    <a:lnR w="3000">
                      <a:solidFill>
                        <a:srgbClr val="C1CDD9"/>
                      </a:solidFill>
                    </a:lnR>
                    <a:lnT w="3000">
                      <a:solidFill>
                        <a:srgbClr val="C1CDD9"/>
                      </a:solidFill>
                    </a:lnT>
                    <a:lnB w="3000">
                      <a:solidFill>
                        <a:srgbClr val="C1CDD9"/>
                      </a:solidFill>
                    </a:lnB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35" b="0">
                          <a:solidFill>
                            <a:srgbClr val="121B26"/>
                          </a:solidFill>
                          <a:latin typeface="Microsoft YaHei UI"/>
                        </a:rPr>
                        <a:t>GO-1 / GO-2</a:t>
                      </a:r>
                    </a:p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35" b="0">
                          <a:solidFill>
                            <a:srgbClr val="121B26"/>
                          </a:solidFill>
                          <a:latin typeface="Microsoft YaHei UI"/>
                        </a:rPr>
                        <a:t>GE-2</a:t>
                      </a:r>
                    </a:p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35" b="0">
                          <a:solidFill>
                            <a:srgbClr val="121B26"/>
                          </a:solidFill>
                          <a:latin typeface="Microsoft YaHei UI"/>
                        </a:rPr>
                        <a:t>Genie Evolver 1.0</a:t>
                      </a:r>
                    </a:p>
                  </a:txBody>
                  <a:tcPr anchor="ctr" marL="32004" marR="32004" marT="10972" marB="10972">
                    <a:solidFill>
                      <a:srgbClr val="EEF3F7"/>
                    </a:solidFill>
                    <a:lnL w="3000">
                      <a:solidFill>
                        <a:srgbClr val="C1CDD9"/>
                      </a:solidFill>
                    </a:lnL>
                    <a:lnR w="3000">
                      <a:solidFill>
                        <a:srgbClr val="C1CDD9"/>
                      </a:solidFill>
                    </a:lnR>
                    <a:lnT w="3000">
                      <a:solidFill>
                        <a:srgbClr val="C1CDD9"/>
                      </a:solidFill>
                    </a:lnT>
                    <a:lnB w="3000">
                      <a:solidFill>
                        <a:srgbClr val="C1CDD9"/>
                      </a:solidFill>
                    </a:lnB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35" b="0">
                          <a:solidFill>
                            <a:srgbClr val="121B26"/>
                          </a:solidFill>
                          <a:latin typeface="Microsoft YaHei UI"/>
                        </a:rPr>
                        <a:t>具身基座模型</a:t>
                      </a:r>
                    </a:p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35" b="0">
                          <a:solidFill>
                            <a:srgbClr val="121B26"/>
                          </a:solidFill>
                          <a:latin typeface="Microsoft YaHei UI"/>
                        </a:rPr>
                        <a:t>世界模型</a:t>
                      </a:r>
                    </a:p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35" b="0">
                          <a:solidFill>
                            <a:srgbClr val="121B26"/>
                          </a:solidFill>
                          <a:latin typeface="Microsoft YaHei UI"/>
                        </a:rPr>
                        <a:t>闭环真机RL</a:t>
                      </a:r>
                    </a:p>
                  </a:txBody>
                  <a:tcPr anchor="ctr" marL="32004" marR="32004" marT="10972" marB="10972">
                    <a:solidFill>
                      <a:srgbClr val="EEF3F7"/>
                    </a:solidFill>
                    <a:lnL w="3000">
                      <a:solidFill>
                        <a:srgbClr val="C1CDD9"/>
                      </a:solidFill>
                    </a:lnL>
                    <a:lnR w="3000">
                      <a:solidFill>
                        <a:srgbClr val="C1CDD9"/>
                      </a:solidFill>
                    </a:lnR>
                    <a:lnT w="3000">
                      <a:solidFill>
                        <a:srgbClr val="C1CDD9"/>
                      </a:solidFill>
                    </a:lnT>
                    <a:lnB w="3000">
                      <a:solidFill>
                        <a:srgbClr val="C1CDD9"/>
                      </a:solidFill>
                    </a:lnB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5" b="0">
                          <a:solidFill>
                            <a:srgbClr val="121B26"/>
                          </a:solidFill>
                          <a:latin typeface="Microsoft YaHei UI"/>
                        </a:rPr>
                        <a:t/>
                      </a:r>
                    </a:p>
                  </a:txBody>
                  <a:tcPr anchor="ctr" marL="32004" marR="32004" marT="10972" marB="10972">
                    <a:solidFill>
                      <a:srgbClr val="EEF3F7"/>
                    </a:solidFill>
                    <a:lnL w="3000">
                      <a:solidFill>
                        <a:srgbClr val="C1CDD9"/>
                      </a:solidFill>
                    </a:lnL>
                    <a:lnR w="3000">
                      <a:solidFill>
                        <a:srgbClr val="C1CDD9"/>
                      </a:solidFill>
                    </a:lnR>
                    <a:lnT w="3000">
                      <a:solidFill>
                        <a:srgbClr val="C1CDD9"/>
                      </a:solidFill>
                    </a:lnT>
                    <a:lnB w="3000">
                      <a:solidFill>
                        <a:srgbClr val="C1CDD9"/>
                      </a:solidFill>
                    </a:lnB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5" b="0">
                          <a:solidFill>
                            <a:srgbClr val="121B26"/>
                          </a:solidFill>
                          <a:latin typeface="Microsoft YaHei UI"/>
                        </a:rPr>
                        <a:t>A3 Ultra：700TOPS</a:t>
                      </a:r>
                    </a:p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5" b="0">
                          <a:solidFill>
                            <a:srgbClr val="121B26"/>
                          </a:solidFill>
                          <a:latin typeface="Microsoft YaHei UI"/>
                        </a:rPr>
                        <a:t>端侧具身处理器</a:t>
                      </a:r>
                    </a:p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5" b="0">
                          <a:solidFill>
                            <a:srgbClr val="121B26"/>
                          </a:solidFill>
                          <a:latin typeface="Microsoft YaHei UI"/>
                        </a:rPr>
                        <a:t>G2 Max 7x24h</a:t>
                      </a:r>
                    </a:p>
                  </a:txBody>
                  <a:tcPr anchor="ctr" marL="32004" marR="32004" marT="10972" marB="10972">
                    <a:solidFill>
                      <a:srgbClr val="EEF3F7"/>
                    </a:solidFill>
                    <a:lnL w="3000">
                      <a:solidFill>
                        <a:srgbClr val="C1CDD9"/>
                      </a:solidFill>
                    </a:lnL>
                    <a:lnR w="3000">
                      <a:solidFill>
                        <a:srgbClr val="C1CDD9"/>
                      </a:solidFill>
                    </a:lnR>
                    <a:lnT w="3000">
                      <a:solidFill>
                        <a:srgbClr val="C1CDD9"/>
                      </a:solidFill>
                    </a:lnT>
                    <a:lnB w="3000">
                      <a:solidFill>
                        <a:srgbClr val="C1CDD9"/>
                      </a:solidFill>
                    </a:lnB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5" b="0">
                          <a:solidFill>
                            <a:srgbClr val="121B26"/>
                          </a:solidFill>
                          <a:latin typeface="Microsoft YaHei UI"/>
                        </a:rPr>
                        <a:t>二手口径10-20Hz</a:t>
                      </a:r>
                    </a:p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5" b="0">
                          <a:solidFill>
                            <a:srgbClr val="121B26"/>
                          </a:solidFill>
                          <a:latin typeface="Microsoft YaHei UI"/>
                        </a:rPr>
                        <a:t>官方Hz未给出</a:t>
                      </a:r>
                    </a:p>
                  </a:txBody>
                  <a:tcPr anchor="ctr" marL="32004" marR="32004" marT="10972" marB="10972">
                    <a:solidFill>
                      <a:srgbClr val="EEF3F7"/>
                    </a:solidFill>
                    <a:lnL w="3000">
                      <a:solidFill>
                        <a:srgbClr val="C1CDD9"/>
                      </a:solidFill>
                    </a:lnL>
                    <a:lnR w="3000">
                      <a:solidFill>
                        <a:srgbClr val="C1CDD9"/>
                      </a:solidFill>
                    </a:lnR>
                    <a:lnT w="3000">
                      <a:solidFill>
                        <a:srgbClr val="C1CDD9"/>
                      </a:solidFill>
                    </a:lnT>
                    <a:lnB w="3000">
                      <a:solidFill>
                        <a:srgbClr val="C1CDD9"/>
                      </a:solidFill>
                    </a:lnB>
                  </a:tcPr>
                </a:tc>
              </a:tr>
              <a:tr h="409956"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35" b="1">
                          <a:solidFill>
                            <a:srgbClr val="0F5766"/>
                          </a:solidFill>
                          <a:latin typeface="Microsoft YaHei UI"/>
                        </a:rPr>
                        <a:t>智平方</a:t>
                      </a:r>
                    </a:p>
                    <a:p>
                      <a:pPr algn="ctr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35" b="1">
                          <a:solidFill>
                            <a:srgbClr val="0F5766"/>
                          </a:solidFill>
                          <a:latin typeface="Microsoft YaHei UI"/>
                        </a:rPr>
                        <a:t>AI2</a:t>
                      </a:r>
                    </a:p>
                  </a:txBody>
                  <a:tcPr anchor="ctr" marL="32004" marR="32004" marT="10972" marB="10972">
                    <a:solidFill>
                      <a:srgbClr val="FFFFFF"/>
                    </a:solidFill>
                    <a:lnL w="3000">
                      <a:solidFill>
                        <a:srgbClr val="C1CDD9"/>
                      </a:solidFill>
                    </a:lnL>
                    <a:lnR w="3000">
                      <a:solidFill>
                        <a:srgbClr val="C1CDD9"/>
                      </a:solidFill>
                    </a:lnR>
                    <a:lnT w="3000">
                      <a:solidFill>
                        <a:srgbClr val="C1CDD9"/>
                      </a:solidFill>
                    </a:lnT>
                    <a:lnB w="3000">
                      <a:solidFill>
                        <a:srgbClr val="C1CDD9"/>
                      </a:solidFill>
                    </a:lnB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35" b="0">
                          <a:solidFill>
                            <a:srgbClr val="121B26"/>
                          </a:solidFill>
                          <a:latin typeface="Microsoft YaHei UI"/>
                        </a:rPr>
                        <a:t>AlphaBrain</a:t>
                      </a:r>
                    </a:p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35" b="0">
                          <a:solidFill>
                            <a:srgbClr val="121B26"/>
                          </a:solidFill>
                          <a:latin typeface="Microsoft YaHei UI"/>
                        </a:rPr>
                        <a:t>GOVLA / FiS-VLA</a:t>
                      </a:r>
                    </a:p>
                  </a:txBody>
                  <a:tcPr anchor="ctr" marL="32004" marR="32004" marT="10972" marB="10972">
                    <a:solidFill>
                      <a:srgbClr val="FFFFFF"/>
                    </a:solidFill>
                    <a:lnL w="3000">
                      <a:solidFill>
                        <a:srgbClr val="C1CDD9"/>
                      </a:solidFill>
                    </a:lnL>
                    <a:lnR w="3000">
                      <a:solidFill>
                        <a:srgbClr val="C1CDD9"/>
                      </a:solidFill>
                    </a:lnR>
                    <a:lnT w="3000">
                      <a:solidFill>
                        <a:srgbClr val="C1CDD9"/>
                      </a:solidFill>
                    </a:lnT>
                    <a:lnB w="3000">
                      <a:solidFill>
                        <a:srgbClr val="C1CDD9"/>
                      </a:solidFill>
                    </a:lnB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35" b="0">
                          <a:solidFill>
                            <a:srgbClr val="121B26"/>
                          </a:solidFill>
                          <a:latin typeface="Microsoft YaHei UI"/>
                        </a:rPr>
                        <a:t>具身大模型</a:t>
                      </a:r>
                    </a:p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35" b="0">
                          <a:solidFill>
                            <a:srgbClr val="121B26"/>
                          </a:solidFill>
                          <a:latin typeface="Microsoft YaHei UI"/>
                        </a:rPr>
                        <a:t>双系统VLA</a:t>
                      </a:r>
                    </a:p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35" b="0">
                          <a:solidFill>
                            <a:srgbClr val="121B26"/>
                          </a:solidFill>
                          <a:latin typeface="Microsoft YaHei UI"/>
                        </a:rPr>
                        <a:t>异构输入+异步频率</a:t>
                      </a:r>
                    </a:p>
                  </a:txBody>
                  <a:tcPr anchor="ctr" marL="32004" marR="32004" marT="10972" marB="10972">
                    <a:solidFill>
                      <a:srgbClr val="FFFFFF"/>
                    </a:solidFill>
                    <a:lnL w="3000">
                      <a:solidFill>
                        <a:srgbClr val="C1CDD9"/>
                      </a:solidFill>
                    </a:lnL>
                    <a:lnR w="3000">
                      <a:solidFill>
                        <a:srgbClr val="C1CDD9"/>
                      </a:solidFill>
                    </a:lnR>
                    <a:lnT w="3000">
                      <a:solidFill>
                        <a:srgbClr val="C1CDD9"/>
                      </a:solidFill>
                    </a:lnT>
                    <a:lnB w="3000">
                      <a:solidFill>
                        <a:srgbClr val="C1CDD9"/>
                      </a:solidFill>
                    </a:lnB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5" b="0">
                          <a:solidFill>
                            <a:srgbClr val="121B26"/>
                          </a:solidFill>
                          <a:latin typeface="Microsoft YaHei UI"/>
                        </a:rPr>
                        <a:t/>
                      </a:r>
                    </a:p>
                  </a:txBody>
                  <a:tcPr anchor="ctr" marL="32004" marR="32004" marT="10972" marB="10972">
                    <a:solidFill>
                      <a:srgbClr val="FFFFFF"/>
                    </a:solidFill>
                    <a:lnL w="3000">
                      <a:solidFill>
                        <a:srgbClr val="C1CDD9"/>
                      </a:solidFill>
                    </a:lnL>
                    <a:lnR w="3000">
                      <a:solidFill>
                        <a:srgbClr val="C1CDD9"/>
                      </a:solidFill>
                    </a:lnR>
                    <a:lnT w="3000">
                      <a:solidFill>
                        <a:srgbClr val="C1CDD9"/>
                      </a:solidFill>
                    </a:lnT>
                    <a:lnB w="3000">
                      <a:solidFill>
                        <a:srgbClr val="C1CDD9"/>
                      </a:solidFill>
                    </a:lnB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5" b="0">
                          <a:solidFill>
                            <a:srgbClr val="121B26"/>
                          </a:solidFill>
                          <a:latin typeface="Microsoft YaHei UI"/>
                        </a:rPr>
                        <a:t/>
                      </a:r>
                    </a:p>
                  </a:txBody>
                  <a:tcPr anchor="ctr" marL="32004" marR="32004" marT="10972" marB="10972">
                    <a:solidFill>
                      <a:srgbClr val="FFFFFF"/>
                    </a:solidFill>
                    <a:lnL w="3000">
                      <a:solidFill>
                        <a:srgbClr val="C1CDD9"/>
                      </a:solidFill>
                    </a:lnL>
                    <a:lnR w="3000">
                      <a:solidFill>
                        <a:srgbClr val="C1CDD9"/>
                      </a:solidFill>
                    </a:lnR>
                    <a:lnT w="3000">
                      <a:solidFill>
                        <a:srgbClr val="C1CDD9"/>
                      </a:solidFill>
                    </a:lnT>
                    <a:lnB w="3000">
                      <a:solidFill>
                        <a:srgbClr val="C1CDD9"/>
                      </a:solidFill>
                    </a:lnB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5" b="0">
                          <a:solidFill>
                            <a:srgbClr val="121B26"/>
                          </a:solidFill>
                          <a:latin typeface="Microsoft YaHei UI"/>
                        </a:rPr>
                        <a:t/>
                      </a:r>
                    </a:p>
                  </a:txBody>
                  <a:tcPr anchor="ctr" marL="32004" marR="32004" marT="10972" marB="10972">
                    <a:solidFill>
                      <a:srgbClr val="FFFFFF"/>
                    </a:solidFill>
                    <a:lnL w="3000">
                      <a:solidFill>
                        <a:srgbClr val="C1CDD9"/>
                      </a:solidFill>
                    </a:lnL>
                    <a:lnR w="3000">
                      <a:solidFill>
                        <a:srgbClr val="C1CDD9"/>
                      </a:solidFill>
                    </a:lnR>
                    <a:lnT w="3000">
                      <a:solidFill>
                        <a:srgbClr val="C1CDD9"/>
                      </a:solidFill>
                    </a:lnT>
                    <a:lnB w="3000">
                      <a:solidFill>
                        <a:srgbClr val="C1CDD9"/>
                      </a:solidFill>
                    </a:lnB>
                  </a:tcPr>
                </a:tc>
              </a:tr>
              <a:tr h="409956"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35" b="1">
                          <a:solidFill>
                            <a:srgbClr val="0F5766"/>
                          </a:solidFill>
                          <a:latin typeface="Microsoft YaHei UI"/>
                        </a:rPr>
                        <a:t>星海图</a:t>
                      </a:r>
                    </a:p>
                    <a:p>
                      <a:pPr algn="ctr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35" b="1">
                          <a:solidFill>
                            <a:srgbClr val="0F5766"/>
                          </a:solidFill>
                          <a:latin typeface="Microsoft YaHei UI"/>
                        </a:rPr>
                        <a:t>Galaxea</a:t>
                      </a:r>
                    </a:p>
                  </a:txBody>
                  <a:tcPr anchor="ctr" marL="32004" marR="32004" marT="10972" marB="10972">
                    <a:solidFill>
                      <a:srgbClr val="EEF3F7"/>
                    </a:solidFill>
                    <a:lnL w="3000">
                      <a:solidFill>
                        <a:srgbClr val="C1CDD9"/>
                      </a:solidFill>
                    </a:lnL>
                    <a:lnR w="3000">
                      <a:solidFill>
                        <a:srgbClr val="C1CDD9"/>
                      </a:solidFill>
                    </a:lnR>
                    <a:lnT w="3000">
                      <a:solidFill>
                        <a:srgbClr val="C1CDD9"/>
                      </a:solidFill>
                    </a:lnT>
                    <a:lnB w="3000">
                      <a:solidFill>
                        <a:srgbClr val="C1CDD9"/>
                      </a:solidFill>
                    </a:lnB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35" b="0">
                          <a:solidFill>
                            <a:srgbClr val="121B26"/>
                          </a:solidFill>
                          <a:latin typeface="Microsoft YaHei UI"/>
                        </a:rPr>
                        <a:t>G0.5</a:t>
                      </a:r>
                    </a:p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35" b="0">
                          <a:solidFill>
                            <a:srgbClr val="121B26"/>
                          </a:solidFill>
                          <a:latin typeface="Microsoft YaHei UI"/>
                        </a:rPr>
                        <a:t>Fast-WAM</a:t>
                      </a:r>
                    </a:p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35" b="0">
                          <a:solidFill>
                            <a:srgbClr val="121B26"/>
                          </a:solidFill>
                          <a:latin typeface="Microsoft YaHei UI"/>
                        </a:rPr>
                        <a:t>GigaWorld-Policy-0.5</a:t>
                      </a:r>
                    </a:p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35" b="0">
                          <a:solidFill>
                            <a:srgbClr val="121B26"/>
                          </a:solidFill>
                          <a:latin typeface="Microsoft YaHei UI"/>
                        </a:rPr>
                        <a:t>Nexo</a:t>
                      </a:r>
                    </a:p>
                  </a:txBody>
                  <a:tcPr anchor="ctr" marL="32004" marR="32004" marT="10972" marB="10972">
                    <a:solidFill>
                      <a:srgbClr val="EEF3F7"/>
                    </a:solidFill>
                    <a:lnL w="3000">
                      <a:solidFill>
                        <a:srgbClr val="C1CDD9"/>
                      </a:solidFill>
                    </a:lnL>
                    <a:lnR w="3000">
                      <a:solidFill>
                        <a:srgbClr val="C1CDD9"/>
                      </a:solidFill>
                    </a:lnR>
                    <a:lnT w="3000">
                      <a:solidFill>
                        <a:srgbClr val="C1CDD9"/>
                      </a:solidFill>
                    </a:lnT>
                    <a:lnB w="3000">
                      <a:solidFill>
                        <a:srgbClr val="C1CDD9"/>
                      </a:solidFill>
                    </a:lnB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35" b="0">
                          <a:solidFill>
                            <a:srgbClr val="121B26"/>
                          </a:solidFill>
                          <a:latin typeface="Microsoft YaHei UI"/>
                        </a:rPr>
                        <a:t>自回归VLA</a:t>
                      </a:r>
                    </a:p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35" b="0">
                          <a:solidFill>
                            <a:srgbClr val="121B26"/>
                          </a:solidFill>
                          <a:latin typeface="Microsoft YaHei UI"/>
                        </a:rPr>
                        <a:t>世界动作模型</a:t>
                      </a:r>
                    </a:p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35" b="0">
                          <a:solidFill>
                            <a:srgbClr val="121B26"/>
                          </a:solidFill>
                          <a:latin typeface="Microsoft YaHei UI"/>
                        </a:rPr>
                        <a:t>长时序作业智能</a:t>
                      </a:r>
                    </a:p>
                  </a:txBody>
                  <a:tcPr anchor="ctr" marL="32004" marR="32004" marT="10972" marB="10972">
                    <a:solidFill>
                      <a:srgbClr val="EEF3F7"/>
                    </a:solidFill>
                    <a:lnL w="3000">
                      <a:solidFill>
                        <a:srgbClr val="C1CDD9"/>
                      </a:solidFill>
                    </a:lnL>
                    <a:lnR w="3000">
                      <a:solidFill>
                        <a:srgbClr val="C1CDD9"/>
                      </a:solidFill>
                    </a:lnR>
                    <a:lnT w="3000">
                      <a:solidFill>
                        <a:srgbClr val="C1CDD9"/>
                      </a:solidFill>
                    </a:lnT>
                    <a:lnB w="3000">
                      <a:solidFill>
                        <a:srgbClr val="C1CDD9"/>
                      </a:solidFill>
                    </a:lnB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84" b="0">
                          <a:solidFill>
                            <a:srgbClr val="121B26"/>
                          </a:solidFill>
                          <a:latin typeface="Microsoft YaHei UI"/>
                        </a:rPr>
                        <a:t>G0.5基于Qwen3.5 2B</a:t>
                      </a:r>
                    </a:p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84" b="0">
                          <a:solidFill>
                            <a:srgbClr val="121B26"/>
                          </a:solidFill>
                          <a:latin typeface="Microsoft YaHei UI"/>
                        </a:rPr>
                        <a:t>18本体；1亿VQA</a:t>
                      </a:r>
                    </a:p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84" b="0">
                          <a:solidFill>
                            <a:srgbClr val="121B26"/>
                          </a:solidFill>
                          <a:latin typeface="Microsoft YaHei UI"/>
                        </a:rPr>
                        <a:t>预训练约12万步</a:t>
                      </a:r>
                    </a:p>
                  </a:txBody>
                  <a:tcPr anchor="ctr" marL="32004" marR="32004" marT="10972" marB="10972">
                    <a:solidFill>
                      <a:srgbClr val="EEF3F7"/>
                    </a:solidFill>
                    <a:lnL w="3000">
                      <a:solidFill>
                        <a:srgbClr val="C1CDD9"/>
                      </a:solidFill>
                    </a:lnL>
                    <a:lnR w="3000">
                      <a:solidFill>
                        <a:srgbClr val="C1CDD9"/>
                      </a:solidFill>
                    </a:lnR>
                    <a:lnT w="3000">
                      <a:solidFill>
                        <a:srgbClr val="C1CDD9"/>
                      </a:solidFill>
                    </a:lnT>
                    <a:lnB w="3000">
                      <a:solidFill>
                        <a:srgbClr val="C1CDD9"/>
                      </a:solidFill>
                    </a:lnB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84" b="0">
                          <a:solidFill>
                            <a:srgbClr val="121B26"/>
                          </a:solidFill>
                          <a:latin typeface="Microsoft YaHei UI"/>
                        </a:rPr>
                        <a:t>Nexo 700TOPS*</a:t>
                      </a:r>
                    </a:p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84" b="0">
                          <a:solidFill>
                            <a:srgbClr val="121B26"/>
                          </a:solidFill>
                          <a:latin typeface="Microsoft YaHei UI"/>
                        </a:rPr>
                        <a:t>R1 Lite端侧模型部署</a:t>
                      </a:r>
                    </a:p>
                  </a:txBody>
                  <a:tcPr anchor="ctr" marL="32004" marR="32004" marT="10972" marB="10972">
                    <a:solidFill>
                      <a:srgbClr val="EEF3F7"/>
                    </a:solidFill>
                    <a:lnL w="3000">
                      <a:solidFill>
                        <a:srgbClr val="C1CDD9"/>
                      </a:solidFill>
                    </a:lnL>
                    <a:lnR w="3000">
                      <a:solidFill>
                        <a:srgbClr val="C1CDD9"/>
                      </a:solidFill>
                    </a:lnR>
                    <a:lnT w="3000">
                      <a:solidFill>
                        <a:srgbClr val="C1CDD9"/>
                      </a:solidFill>
                    </a:lnT>
                    <a:lnB w="3000">
                      <a:solidFill>
                        <a:srgbClr val="C1CDD9"/>
                      </a:solidFill>
                    </a:lnB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84" b="0">
                          <a:solidFill>
                            <a:srgbClr val="121B26"/>
                          </a:solidFill>
                          <a:latin typeface="Microsoft YaHei UI"/>
                        </a:rPr>
                        <a:t>Fast-WAM约190ms</a:t>
                      </a:r>
                    </a:p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84" b="0">
                          <a:solidFill>
                            <a:srgbClr val="121B26"/>
                          </a:solidFill>
                          <a:latin typeface="Microsoft YaHei UI"/>
                        </a:rPr>
                        <a:t>A100 189ms</a:t>
                      </a:r>
                    </a:p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84" b="0">
                          <a:solidFill>
                            <a:srgbClr val="121B26"/>
                          </a:solidFill>
                          <a:latin typeface="Microsoft YaHei UI"/>
                        </a:rPr>
                        <a:t>RTX4090 110ms</a:t>
                      </a:r>
                    </a:p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84" b="0">
                          <a:solidFill>
                            <a:srgbClr val="121B26"/>
                          </a:solidFill>
                          <a:latin typeface="Microsoft YaHei UI"/>
                        </a:rPr>
                        <a:t>C++ 85ms</a:t>
                      </a:r>
                    </a:p>
                  </a:txBody>
                  <a:tcPr anchor="ctr" marL="32004" marR="32004" marT="10972" marB="10972">
                    <a:solidFill>
                      <a:srgbClr val="EEF3F7"/>
                    </a:solidFill>
                    <a:lnL w="3000">
                      <a:solidFill>
                        <a:srgbClr val="C1CDD9"/>
                      </a:solidFill>
                    </a:lnL>
                    <a:lnR w="3000">
                      <a:solidFill>
                        <a:srgbClr val="C1CDD9"/>
                      </a:solidFill>
                    </a:lnR>
                    <a:lnT w="3000">
                      <a:solidFill>
                        <a:srgbClr val="C1CDD9"/>
                      </a:solidFill>
                    </a:lnT>
                    <a:lnB w="3000">
                      <a:solidFill>
                        <a:srgbClr val="C1CDD9"/>
                      </a:solidFill>
                    </a:lnB>
                  </a:tcPr>
                </a:tc>
              </a:tr>
              <a:tr h="409956"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35" b="1">
                          <a:solidFill>
                            <a:srgbClr val="0F5766"/>
                          </a:solidFill>
                          <a:latin typeface="Microsoft YaHei UI"/>
                        </a:rPr>
                        <a:t>自变量</a:t>
                      </a:r>
                    </a:p>
                    <a:p>
                      <a:pPr algn="ctr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35" b="1">
                          <a:solidFill>
                            <a:srgbClr val="0F5766"/>
                          </a:solidFill>
                          <a:latin typeface="Microsoft YaHei UI"/>
                        </a:rPr>
                        <a:t>X Square</a:t>
                      </a:r>
                    </a:p>
                  </a:txBody>
                  <a:tcPr anchor="ctr" marL="32004" marR="32004" marT="10972" marB="10972">
                    <a:solidFill>
                      <a:srgbClr val="FFFFFF"/>
                    </a:solidFill>
                    <a:lnL w="3000">
                      <a:solidFill>
                        <a:srgbClr val="C1CDD9"/>
                      </a:solidFill>
                    </a:lnL>
                    <a:lnR w="3000">
                      <a:solidFill>
                        <a:srgbClr val="C1CDD9"/>
                      </a:solidFill>
                    </a:lnR>
                    <a:lnT w="3000">
                      <a:solidFill>
                        <a:srgbClr val="C1CDD9"/>
                      </a:solidFill>
                    </a:lnT>
                    <a:lnB w="3000">
                      <a:solidFill>
                        <a:srgbClr val="C1CDD9"/>
                      </a:solidFill>
                    </a:lnB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35" b="0">
                          <a:solidFill>
                            <a:srgbClr val="121B26"/>
                          </a:solidFill>
                          <a:latin typeface="Microsoft YaHei UI"/>
                        </a:rPr>
                        <a:t>WALL-B</a:t>
                      </a:r>
                    </a:p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35" b="0">
                          <a:solidFill>
                            <a:srgbClr val="121B26"/>
                          </a:solidFill>
                          <a:latin typeface="Microsoft YaHei UI"/>
                        </a:rPr>
                        <a:t>Wall-OSS-0.5</a:t>
                      </a:r>
                    </a:p>
                  </a:txBody>
                  <a:tcPr anchor="ctr" marL="32004" marR="32004" marT="10972" marB="10972">
                    <a:solidFill>
                      <a:srgbClr val="FFFFFF"/>
                    </a:solidFill>
                    <a:lnL w="3000">
                      <a:solidFill>
                        <a:srgbClr val="C1CDD9"/>
                      </a:solidFill>
                    </a:lnL>
                    <a:lnR w="3000">
                      <a:solidFill>
                        <a:srgbClr val="C1CDD9"/>
                      </a:solidFill>
                    </a:lnR>
                    <a:lnT w="3000">
                      <a:solidFill>
                        <a:srgbClr val="C1CDD9"/>
                      </a:solidFill>
                    </a:lnT>
                    <a:lnB w="3000">
                      <a:solidFill>
                        <a:srgbClr val="C1CDD9"/>
                      </a:solidFill>
                    </a:lnB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35" b="0">
                          <a:solidFill>
                            <a:srgbClr val="121B26"/>
                          </a:solidFill>
                          <a:latin typeface="Microsoft YaHei UI"/>
                        </a:rPr>
                        <a:t>世界统一模型</a:t>
                      </a:r>
                    </a:p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35" b="0">
                          <a:solidFill>
                            <a:srgbClr val="121B26"/>
                          </a:solidFill>
                          <a:latin typeface="Microsoft YaHei UI"/>
                        </a:rPr>
                        <a:t>端到端模型</a:t>
                      </a:r>
                    </a:p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35" b="0">
                          <a:solidFill>
                            <a:srgbClr val="121B26"/>
                          </a:solidFill>
                          <a:latin typeface="Microsoft YaHei UI"/>
                        </a:rPr>
                        <a:t>视觉/语言/动作统一</a:t>
                      </a:r>
                    </a:p>
                  </a:txBody>
                  <a:tcPr anchor="ctr" marL="32004" marR="32004" marT="10972" marB="10972">
                    <a:solidFill>
                      <a:srgbClr val="FFFFFF"/>
                    </a:solidFill>
                    <a:lnL w="3000">
                      <a:solidFill>
                        <a:srgbClr val="C1CDD9"/>
                      </a:solidFill>
                    </a:lnL>
                    <a:lnR w="3000">
                      <a:solidFill>
                        <a:srgbClr val="C1CDD9"/>
                      </a:solidFill>
                    </a:lnR>
                    <a:lnT w="3000">
                      <a:solidFill>
                        <a:srgbClr val="C1CDD9"/>
                      </a:solidFill>
                    </a:lnT>
                    <a:lnB w="3000">
                      <a:solidFill>
                        <a:srgbClr val="C1CDD9"/>
                      </a:solidFill>
                    </a:lnB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5" b="0">
                          <a:solidFill>
                            <a:srgbClr val="121B26"/>
                          </a:solidFill>
                          <a:latin typeface="Microsoft YaHei UI"/>
                        </a:rPr>
                        <a:t>真机测试17个任务</a:t>
                      </a:r>
                    </a:p>
                  </a:txBody>
                  <a:tcPr anchor="ctr" marL="32004" marR="32004" marT="10972" marB="10972">
                    <a:solidFill>
                      <a:srgbClr val="FFFFFF"/>
                    </a:solidFill>
                    <a:lnL w="3000">
                      <a:solidFill>
                        <a:srgbClr val="C1CDD9"/>
                      </a:solidFill>
                    </a:lnL>
                    <a:lnR w="3000">
                      <a:solidFill>
                        <a:srgbClr val="C1CDD9"/>
                      </a:solidFill>
                    </a:lnR>
                    <a:lnT w="3000">
                      <a:solidFill>
                        <a:srgbClr val="C1CDD9"/>
                      </a:solidFill>
                    </a:lnT>
                    <a:lnB w="3000">
                      <a:solidFill>
                        <a:srgbClr val="C1CDD9"/>
                      </a:solidFill>
                    </a:lnB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5" b="0">
                          <a:solidFill>
                            <a:srgbClr val="121B26"/>
                          </a:solidFill>
                          <a:latin typeface="Microsoft YaHei UI"/>
                        </a:rPr>
                        <a:t>模型上真机；</a:t>
                      </a:r>
                    </a:p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5" b="0">
                          <a:solidFill>
                            <a:srgbClr val="121B26"/>
                          </a:solidFill>
                          <a:latin typeface="Microsoft YaHei UI"/>
                        </a:rPr>
                        <a:t>端云分工未公开</a:t>
                      </a:r>
                    </a:p>
                  </a:txBody>
                  <a:tcPr anchor="ctr" marL="32004" marR="32004" marT="10972" marB="10972">
                    <a:solidFill>
                      <a:srgbClr val="FFFFFF"/>
                    </a:solidFill>
                    <a:lnL w="3000">
                      <a:solidFill>
                        <a:srgbClr val="C1CDD9"/>
                      </a:solidFill>
                    </a:lnL>
                    <a:lnR w="3000">
                      <a:solidFill>
                        <a:srgbClr val="C1CDD9"/>
                      </a:solidFill>
                    </a:lnR>
                    <a:lnT w="3000">
                      <a:solidFill>
                        <a:srgbClr val="C1CDD9"/>
                      </a:solidFill>
                    </a:lnT>
                    <a:lnB w="3000">
                      <a:solidFill>
                        <a:srgbClr val="C1CDD9"/>
                      </a:solidFill>
                    </a:lnB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5" b="0">
                          <a:solidFill>
                            <a:srgbClr val="121B26"/>
                          </a:solidFill>
                          <a:latin typeface="Microsoft YaHei UI"/>
                        </a:rPr>
                        <a:t/>
                      </a:r>
                    </a:p>
                  </a:txBody>
                  <a:tcPr anchor="ctr" marL="32004" marR="32004" marT="10972" marB="10972">
                    <a:solidFill>
                      <a:srgbClr val="FFFFFF"/>
                    </a:solidFill>
                    <a:lnL w="3000">
                      <a:solidFill>
                        <a:srgbClr val="C1CDD9"/>
                      </a:solidFill>
                    </a:lnL>
                    <a:lnR w="3000">
                      <a:solidFill>
                        <a:srgbClr val="C1CDD9"/>
                      </a:solidFill>
                    </a:lnR>
                    <a:lnT w="3000">
                      <a:solidFill>
                        <a:srgbClr val="C1CDD9"/>
                      </a:solidFill>
                    </a:lnT>
                    <a:lnB w="3000">
                      <a:solidFill>
                        <a:srgbClr val="C1CDD9"/>
                      </a:solidFill>
                    </a:lnB>
                  </a:tcPr>
                </a:tc>
              </a:tr>
              <a:tr h="409956"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35" b="1">
                          <a:solidFill>
                            <a:srgbClr val="0F5766"/>
                          </a:solidFill>
                          <a:latin typeface="Microsoft YaHei UI"/>
                        </a:rPr>
                        <a:t>普渡</a:t>
                      </a:r>
                    </a:p>
                    <a:p>
                      <a:pPr algn="ctr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35" b="1">
                          <a:solidFill>
                            <a:srgbClr val="0F5766"/>
                          </a:solidFill>
                          <a:latin typeface="Microsoft YaHei UI"/>
                        </a:rPr>
                        <a:t>Pudu</a:t>
                      </a:r>
                    </a:p>
                  </a:txBody>
                  <a:tcPr anchor="ctr" marL="32004" marR="32004" marT="10972" marB="10972">
                    <a:solidFill>
                      <a:srgbClr val="EEF3F7"/>
                    </a:solidFill>
                    <a:lnL w="3000">
                      <a:solidFill>
                        <a:srgbClr val="C1CDD9"/>
                      </a:solidFill>
                    </a:lnL>
                    <a:lnR w="3000">
                      <a:solidFill>
                        <a:srgbClr val="C1CDD9"/>
                      </a:solidFill>
                    </a:lnR>
                    <a:lnT w="3000">
                      <a:solidFill>
                        <a:srgbClr val="C1CDD9"/>
                      </a:solidFill>
                    </a:lnT>
                    <a:lnB w="3000">
                      <a:solidFill>
                        <a:srgbClr val="C1CDD9"/>
                      </a:solidFill>
                    </a:lnB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35" b="0">
                          <a:solidFill>
                            <a:srgbClr val="121B26"/>
                          </a:solidFill>
                          <a:latin typeface="Microsoft YaHei UI"/>
                        </a:rPr>
                        <a:t>PuduFM 1.0</a:t>
                      </a:r>
                    </a:p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35" b="0">
                          <a:solidFill>
                            <a:srgbClr val="121B26"/>
                          </a:solidFill>
                          <a:latin typeface="Microsoft YaHei UI"/>
                        </a:rPr>
                        <a:t>Pudu Agent OS</a:t>
                      </a:r>
                    </a:p>
                  </a:txBody>
                  <a:tcPr anchor="ctr" marL="32004" marR="32004" marT="10972" marB="10972">
                    <a:solidFill>
                      <a:srgbClr val="EEF3F7"/>
                    </a:solidFill>
                    <a:lnL w="3000">
                      <a:solidFill>
                        <a:srgbClr val="C1CDD9"/>
                      </a:solidFill>
                    </a:lnL>
                    <a:lnR w="3000">
                      <a:solidFill>
                        <a:srgbClr val="C1CDD9"/>
                      </a:solidFill>
                    </a:lnR>
                    <a:lnT w="3000">
                      <a:solidFill>
                        <a:srgbClr val="C1CDD9"/>
                      </a:solidFill>
                    </a:lnT>
                    <a:lnB w="3000">
                      <a:solidFill>
                        <a:srgbClr val="C1CDD9"/>
                      </a:solidFill>
                    </a:lnB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35" b="0">
                          <a:solidFill>
                            <a:srgbClr val="121B26"/>
                          </a:solidFill>
                          <a:latin typeface="Microsoft YaHei UI"/>
                        </a:rPr>
                        <a:t>Physical Agent</a:t>
                      </a:r>
                    </a:p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35" b="0">
                          <a:solidFill>
                            <a:srgbClr val="121B26"/>
                          </a:solidFill>
                          <a:latin typeface="Microsoft YaHei UI"/>
                        </a:rPr>
                        <a:t>具身基座模型</a:t>
                      </a:r>
                    </a:p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35" b="0">
                          <a:solidFill>
                            <a:srgbClr val="121B26"/>
                          </a:solidFill>
                          <a:latin typeface="Microsoft YaHei UI"/>
                        </a:rPr>
                        <a:t>一脑多形</a:t>
                      </a:r>
                    </a:p>
                  </a:txBody>
                  <a:tcPr anchor="ctr" marL="32004" marR="32004" marT="10972" marB="10972">
                    <a:solidFill>
                      <a:srgbClr val="EEF3F7"/>
                    </a:solidFill>
                    <a:lnL w="3000">
                      <a:solidFill>
                        <a:srgbClr val="C1CDD9"/>
                      </a:solidFill>
                    </a:lnL>
                    <a:lnR w="3000">
                      <a:solidFill>
                        <a:srgbClr val="C1CDD9"/>
                      </a:solidFill>
                    </a:lnR>
                    <a:lnT w="3000">
                      <a:solidFill>
                        <a:srgbClr val="C1CDD9"/>
                      </a:solidFill>
                    </a:lnT>
                    <a:lnB w="3000">
                      <a:solidFill>
                        <a:srgbClr val="C1CDD9"/>
                      </a:solidFill>
                    </a:lnB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5" b="0">
                          <a:solidFill>
                            <a:srgbClr val="121B26"/>
                          </a:solidFill>
                          <a:latin typeface="Microsoft YaHei UI"/>
                        </a:rPr>
                        <a:t>5000万小时/年</a:t>
                      </a:r>
                    </a:p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5" b="0">
                          <a:solidFill>
                            <a:srgbClr val="121B26"/>
                          </a:solidFill>
                          <a:latin typeface="Microsoft YaHei UI"/>
                        </a:rPr>
                        <a:t>实景运行数据回流</a:t>
                      </a:r>
                    </a:p>
                  </a:txBody>
                  <a:tcPr anchor="ctr" marL="32004" marR="32004" marT="10972" marB="10972">
                    <a:solidFill>
                      <a:srgbClr val="EEF3F7"/>
                    </a:solidFill>
                    <a:lnL w="3000">
                      <a:solidFill>
                        <a:srgbClr val="C1CDD9"/>
                      </a:solidFill>
                    </a:lnL>
                    <a:lnR w="3000">
                      <a:solidFill>
                        <a:srgbClr val="C1CDD9"/>
                      </a:solidFill>
                    </a:lnR>
                    <a:lnT w="3000">
                      <a:solidFill>
                        <a:srgbClr val="C1CDD9"/>
                      </a:solidFill>
                    </a:lnT>
                    <a:lnB w="3000">
                      <a:solidFill>
                        <a:srgbClr val="C1CDD9"/>
                      </a:solidFill>
                    </a:lnB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5" b="0">
                          <a:solidFill>
                            <a:srgbClr val="121B26"/>
                          </a:solidFill>
                          <a:latin typeface="Microsoft YaHei UI"/>
                        </a:rPr>
                        <a:t>D7自主换电；</a:t>
                      </a:r>
                    </a:p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5" b="0">
                          <a:solidFill>
                            <a:srgbClr val="121B26"/>
                          </a:solidFill>
                          <a:latin typeface="Microsoft YaHei UI"/>
                        </a:rPr>
                        <a:t>模型端侧算力未公开</a:t>
                      </a:r>
                    </a:p>
                  </a:txBody>
                  <a:tcPr anchor="ctr" marL="32004" marR="32004" marT="10972" marB="10972">
                    <a:solidFill>
                      <a:srgbClr val="EEF3F7"/>
                    </a:solidFill>
                    <a:lnL w="3000">
                      <a:solidFill>
                        <a:srgbClr val="C1CDD9"/>
                      </a:solidFill>
                    </a:lnL>
                    <a:lnR w="3000">
                      <a:solidFill>
                        <a:srgbClr val="C1CDD9"/>
                      </a:solidFill>
                    </a:lnR>
                    <a:lnT w="3000">
                      <a:solidFill>
                        <a:srgbClr val="C1CDD9"/>
                      </a:solidFill>
                    </a:lnT>
                    <a:lnB w="3000">
                      <a:solidFill>
                        <a:srgbClr val="C1CDD9"/>
                      </a:solidFill>
                    </a:lnB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5" b="0">
                          <a:solidFill>
                            <a:srgbClr val="121B26"/>
                          </a:solidFill>
                          <a:latin typeface="Microsoft YaHei UI"/>
                        </a:rPr>
                        <a:t/>
                      </a:r>
                    </a:p>
                  </a:txBody>
                  <a:tcPr anchor="ctr" marL="32004" marR="32004" marT="10972" marB="10972">
                    <a:solidFill>
                      <a:srgbClr val="EEF3F7"/>
                    </a:solidFill>
                    <a:lnL w="3000">
                      <a:solidFill>
                        <a:srgbClr val="C1CDD9"/>
                      </a:solidFill>
                    </a:lnL>
                    <a:lnR w="3000">
                      <a:solidFill>
                        <a:srgbClr val="C1CDD9"/>
                      </a:solidFill>
                    </a:lnR>
                    <a:lnT w="3000">
                      <a:solidFill>
                        <a:srgbClr val="C1CDD9"/>
                      </a:solidFill>
                    </a:lnT>
                    <a:lnB w="3000">
                      <a:solidFill>
                        <a:srgbClr val="C1CDD9"/>
                      </a:solidFill>
                    </a:lnB>
                  </a:tcPr>
                </a:tc>
              </a:tr>
              <a:tr h="409956"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35" b="1">
                          <a:solidFill>
                            <a:srgbClr val="0F5766"/>
                          </a:solidFill>
                          <a:latin typeface="Microsoft YaHei UI"/>
                        </a:rPr>
                        <a:t>傅利叶</a:t>
                      </a:r>
                    </a:p>
                    <a:p>
                      <a:pPr algn="ctr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35" b="1">
                          <a:solidFill>
                            <a:srgbClr val="0F5766"/>
                          </a:solidFill>
                          <a:latin typeface="Microsoft YaHei UI"/>
                        </a:rPr>
                        <a:t>Fourier</a:t>
                      </a:r>
                    </a:p>
                  </a:txBody>
                  <a:tcPr anchor="ctr" marL="32004" marR="32004" marT="10972" marB="10972">
                    <a:solidFill>
                      <a:srgbClr val="FFFFFF"/>
                    </a:solidFill>
                    <a:lnL w="3000">
                      <a:solidFill>
                        <a:srgbClr val="C1CDD9"/>
                      </a:solidFill>
                    </a:lnL>
                    <a:lnR w="3000">
                      <a:solidFill>
                        <a:srgbClr val="C1CDD9"/>
                      </a:solidFill>
                    </a:lnR>
                    <a:lnT w="3000">
                      <a:solidFill>
                        <a:srgbClr val="C1CDD9"/>
                      </a:solidFill>
                    </a:lnT>
                    <a:lnB w="3000">
                      <a:solidFill>
                        <a:srgbClr val="C1CDD9"/>
                      </a:solidFill>
                    </a:lnB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35" b="0">
                          <a:solidFill>
                            <a:srgbClr val="121B26"/>
                          </a:solidFill>
                          <a:latin typeface="Microsoft YaHei UI"/>
                        </a:rPr>
                        <a:t>LLM + embodied models</a:t>
                      </a:r>
                    </a:p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35" b="0">
                          <a:solidFill>
                            <a:srgbClr val="121B26"/>
                          </a:solidFill>
                          <a:latin typeface="Microsoft YaHei UI"/>
                        </a:rPr>
                        <a:t>+ planning框架</a:t>
                      </a:r>
                    </a:p>
                  </a:txBody>
                  <a:tcPr anchor="ctr" marL="32004" marR="32004" marT="10972" marB="10972">
                    <a:solidFill>
                      <a:srgbClr val="FFFFFF"/>
                    </a:solidFill>
                    <a:lnL w="3000">
                      <a:solidFill>
                        <a:srgbClr val="C1CDD9"/>
                      </a:solidFill>
                    </a:lnL>
                    <a:lnR w="3000">
                      <a:solidFill>
                        <a:srgbClr val="C1CDD9"/>
                      </a:solidFill>
                    </a:lnR>
                    <a:lnT w="3000">
                      <a:solidFill>
                        <a:srgbClr val="C1CDD9"/>
                      </a:solidFill>
                    </a:lnT>
                    <a:lnB w="3000">
                      <a:solidFill>
                        <a:srgbClr val="C1CDD9"/>
                      </a:solidFill>
                    </a:lnB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35" b="0">
                          <a:solidFill>
                            <a:srgbClr val="121B26"/>
                          </a:solidFill>
                          <a:latin typeface="Microsoft YaHei UI"/>
                        </a:rPr>
                        <a:t>LLM</a:t>
                      </a:r>
                    </a:p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35" b="0">
                          <a:solidFill>
                            <a:srgbClr val="121B26"/>
                          </a:solidFill>
                          <a:latin typeface="Microsoft YaHei UI"/>
                        </a:rPr>
                        <a:t>具身模型</a:t>
                      </a:r>
                    </a:p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35" b="0">
                          <a:solidFill>
                            <a:srgbClr val="121B26"/>
                          </a:solidFill>
                          <a:latin typeface="Microsoft YaHei UI"/>
                        </a:rPr>
                        <a:t>导航规划</a:t>
                      </a:r>
                    </a:p>
                  </a:txBody>
                  <a:tcPr anchor="ctr" marL="32004" marR="32004" marT="10972" marB="10972">
                    <a:solidFill>
                      <a:srgbClr val="FFFFFF"/>
                    </a:solidFill>
                    <a:lnL w="3000">
                      <a:solidFill>
                        <a:srgbClr val="C1CDD9"/>
                      </a:solidFill>
                    </a:lnL>
                    <a:lnR w="3000">
                      <a:solidFill>
                        <a:srgbClr val="C1CDD9"/>
                      </a:solidFill>
                    </a:lnR>
                    <a:lnT w="3000">
                      <a:solidFill>
                        <a:srgbClr val="C1CDD9"/>
                      </a:solidFill>
                    </a:lnT>
                    <a:lnB w="3000">
                      <a:solidFill>
                        <a:srgbClr val="C1CDD9"/>
                      </a:solidFill>
                    </a:lnB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5" b="0">
                          <a:solidFill>
                            <a:srgbClr val="121B26"/>
                          </a:solidFill>
                          <a:latin typeface="Microsoft YaHei UI"/>
                        </a:rPr>
                        <a:t/>
                      </a:r>
                    </a:p>
                  </a:txBody>
                  <a:tcPr anchor="ctr" marL="32004" marR="32004" marT="10972" marB="10972">
                    <a:solidFill>
                      <a:srgbClr val="FFFFFF"/>
                    </a:solidFill>
                    <a:lnL w="3000">
                      <a:solidFill>
                        <a:srgbClr val="C1CDD9"/>
                      </a:solidFill>
                    </a:lnL>
                    <a:lnR w="3000">
                      <a:solidFill>
                        <a:srgbClr val="C1CDD9"/>
                      </a:solidFill>
                    </a:lnR>
                    <a:lnT w="3000">
                      <a:solidFill>
                        <a:srgbClr val="C1CDD9"/>
                      </a:solidFill>
                    </a:lnT>
                    <a:lnB w="3000">
                      <a:solidFill>
                        <a:srgbClr val="C1CDD9"/>
                      </a:solidFill>
                    </a:lnB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5" b="0">
                          <a:solidFill>
                            <a:srgbClr val="121B26"/>
                          </a:solidFill>
                          <a:latin typeface="Microsoft YaHei UI"/>
                        </a:rPr>
                        <a:t>框架连接大模型、</a:t>
                      </a:r>
                    </a:p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5" b="0">
                          <a:solidFill>
                            <a:srgbClr val="121B26"/>
                          </a:solidFill>
                          <a:latin typeface="Microsoft YaHei UI"/>
                        </a:rPr>
                        <a:t>具身模型与低级运控</a:t>
                      </a:r>
                    </a:p>
                  </a:txBody>
                  <a:tcPr anchor="ctr" marL="32004" marR="32004" marT="10972" marB="10972">
                    <a:solidFill>
                      <a:srgbClr val="FFFFFF"/>
                    </a:solidFill>
                    <a:lnL w="3000">
                      <a:solidFill>
                        <a:srgbClr val="C1CDD9"/>
                      </a:solidFill>
                    </a:lnL>
                    <a:lnR w="3000">
                      <a:solidFill>
                        <a:srgbClr val="C1CDD9"/>
                      </a:solidFill>
                    </a:lnR>
                    <a:lnT w="3000">
                      <a:solidFill>
                        <a:srgbClr val="C1CDD9"/>
                      </a:solidFill>
                    </a:lnT>
                    <a:lnB w="3000">
                      <a:solidFill>
                        <a:srgbClr val="C1CDD9"/>
                      </a:solidFill>
                    </a:lnB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5" b="0">
                          <a:solidFill>
                            <a:srgbClr val="121B26"/>
                          </a:solidFill>
                          <a:latin typeface="Microsoft YaHei UI"/>
                        </a:rPr>
                        <a:t/>
                      </a:r>
                    </a:p>
                  </a:txBody>
                  <a:tcPr anchor="ctr" marL="32004" marR="32004" marT="10972" marB="10972">
                    <a:solidFill>
                      <a:srgbClr val="FFFFFF"/>
                    </a:solidFill>
                    <a:lnL w="3000">
                      <a:solidFill>
                        <a:srgbClr val="C1CDD9"/>
                      </a:solidFill>
                    </a:lnL>
                    <a:lnR w="3000">
                      <a:solidFill>
                        <a:srgbClr val="C1CDD9"/>
                      </a:solidFill>
                    </a:lnR>
                    <a:lnT w="3000">
                      <a:solidFill>
                        <a:srgbClr val="C1CDD9"/>
                      </a:solidFill>
                    </a:lnT>
                    <a:lnB w="3000">
                      <a:solidFill>
                        <a:srgbClr val="C1CDD9"/>
                      </a:solidFill>
                    </a:lnB>
                  </a:tcPr>
                </a:tc>
              </a:tr>
              <a:tr h="409956"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35" b="1">
                          <a:solidFill>
                            <a:srgbClr val="0F5766"/>
                          </a:solidFill>
                          <a:latin typeface="Microsoft YaHei UI"/>
                        </a:rPr>
                        <a:t>蔚蓝智能</a:t>
                      </a:r>
                    </a:p>
                    <a:p>
                      <a:pPr algn="ctr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35" b="1">
                          <a:solidFill>
                            <a:srgbClr val="0F5766"/>
                          </a:solidFill>
                          <a:latin typeface="Microsoft YaHei UI"/>
                        </a:rPr>
                        <a:t>BabyAlpha</a:t>
                      </a:r>
                    </a:p>
                  </a:txBody>
                  <a:tcPr anchor="ctr" marL="32004" marR="32004" marT="10972" marB="10972">
                    <a:solidFill>
                      <a:srgbClr val="EEF3F7"/>
                    </a:solidFill>
                    <a:lnL w="3000">
                      <a:solidFill>
                        <a:srgbClr val="C1CDD9"/>
                      </a:solidFill>
                    </a:lnL>
                    <a:lnR w="3000">
                      <a:solidFill>
                        <a:srgbClr val="C1CDD9"/>
                      </a:solidFill>
                    </a:lnR>
                    <a:lnT w="3000">
                      <a:solidFill>
                        <a:srgbClr val="C1CDD9"/>
                      </a:solidFill>
                    </a:lnT>
                    <a:lnB w="3000">
                      <a:solidFill>
                        <a:srgbClr val="C1CDD9"/>
                      </a:solidFill>
                    </a:lnB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35" b="0">
                          <a:solidFill>
                            <a:srgbClr val="121B26"/>
                          </a:solidFill>
                          <a:latin typeface="Microsoft YaHei UI"/>
                        </a:rPr>
                        <a:t>A3本地交互大模型</a:t>
                      </a:r>
                    </a:p>
                  </a:txBody>
                  <a:tcPr anchor="ctr" marL="32004" marR="32004" marT="10972" marB="10972">
                    <a:solidFill>
                      <a:srgbClr val="EEF3F7"/>
                    </a:solidFill>
                    <a:lnL w="3000">
                      <a:solidFill>
                        <a:srgbClr val="C1CDD9"/>
                      </a:solidFill>
                    </a:lnL>
                    <a:lnR w="3000">
                      <a:solidFill>
                        <a:srgbClr val="C1CDD9"/>
                      </a:solidFill>
                    </a:lnR>
                    <a:lnT w="3000">
                      <a:solidFill>
                        <a:srgbClr val="C1CDD9"/>
                      </a:solidFill>
                    </a:lnT>
                    <a:lnB w="3000">
                      <a:solidFill>
                        <a:srgbClr val="C1CDD9"/>
                      </a:solidFill>
                    </a:lnB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35" b="0">
                          <a:solidFill>
                            <a:srgbClr val="121B26"/>
                          </a:solidFill>
                          <a:latin typeface="Microsoft YaHei UI"/>
                        </a:rPr>
                        <a:t>本地LLM</a:t>
                      </a:r>
                    </a:p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35" b="0">
                          <a:solidFill>
                            <a:srgbClr val="121B26"/>
                          </a:solidFill>
                          <a:latin typeface="Microsoft YaHei UI"/>
                        </a:rPr>
                        <a:t>环境识别/对话</a:t>
                      </a:r>
                    </a:p>
                  </a:txBody>
                  <a:tcPr anchor="ctr" marL="32004" marR="32004" marT="10972" marB="10972">
                    <a:solidFill>
                      <a:srgbClr val="EEF3F7"/>
                    </a:solidFill>
                    <a:lnL w="3000">
                      <a:solidFill>
                        <a:srgbClr val="C1CDD9"/>
                      </a:solidFill>
                    </a:lnL>
                    <a:lnR w="3000">
                      <a:solidFill>
                        <a:srgbClr val="C1CDD9"/>
                      </a:solidFill>
                    </a:lnR>
                    <a:lnT w="3000">
                      <a:solidFill>
                        <a:srgbClr val="C1CDD9"/>
                      </a:solidFill>
                    </a:lnT>
                    <a:lnB w="3000">
                      <a:solidFill>
                        <a:srgbClr val="C1CDD9"/>
                      </a:solidFill>
                    </a:lnB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5" b="0">
                          <a:solidFill>
                            <a:srgbClr val="121B26"/>
                          </a:solidFill>
                          <a:latin typeface="Microsoft YaHei UI"/>
                        </a:rPr>
                        <a:t>7B</a:t>
                      </a:r>
                    </a:p>
                  </a:txBody>
                  <a:tcPr anchor="ctr" marL="32004" marR="32004" marT="10972" marB="10972">
                    <a:solidFill>
                      <a:srgbClr val="EEF3F7"/>
                    </a:solidFill>
                    <a:lnL w="3000">
                      <a:solidFill>
                        <a:srgbClr val="C1CDD9"/>
                      </a:solidFill>
                    </a:lnL>
                    <a:lnR w="3000">
                      <a:solidFill>
                        <a:srgbClr val="C1CDD9"/>
                      </a:solidFill>
                    </a:lnR>
                    <a:lnT w="3000">
                      <a:solidFill>
                        <a:srgbClr val="C1CDD9"/>
                      </a:solidFill>
                    </a:lnT>
                    <a:lnB w="3000">
                      <a:solidFill>
                        <a:srgbClr val="C1CDD9"/>
                      </a:solidFill>
                    </a:lnB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5" b="0">
                          <a:solidFill>
                            <a:srgbClr val="121B26"/>
                          </a:solidFill>
                          <a:latin typeface="Microsoft YaHei UI"/>
                        </a:rPr>
                        <a:t>本地端侧运行；</a:t>
                      </a:r>
                    </a:p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5" b="0">
                          <a:solidFill>
                            <a:srgbClr val="121B26"/>
                          </a:solidFill>
                          <a:latin typeface="Microsoft YaHei UI"/>
                        </a:rPr>
                        <a:t>芯片未公开</a:t>
                      </a:r>
                    </a:p>
                  </a:txBody>
                  <a:tcPr anchor="ctr" marL="32004" marR="32004" marT="10972" marB="10972">
                    <a:solidFill>
                      <a:srgbClr val="EEF3F7"/>
                    </a:solidFill>
                    <a:lnL w="3000">
                      <a:solidFill>
                        <a:srgbClr val="C1CDD9"/>
                      </a:solidFill>
                    </a:lnL>
                    <a:lnR w="3000">
                      <a:solidFill>
                        <a:srgbClr val="C1CDD9"/>
                      </a:solidFill>
                    </a:lnR>
                    <a:lnT w="3000">
                      <a:solidFill>
                        <a:srgbClr val="C1CDD9"/>
                      </a:solidFill>
                    </a:lnT>
                    <a:lnB w="3000">
                      <a:solidFill>
                        <a:srgbClr val="C1CDD9"/>
                      </a:solidFill>
                    </a:lnB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5" b="0">
                          <a:solidFill>
                            <a:srgbClr val="121B26"/>
                          </a:solidFill>
                          <a:latin typeface="Microsoft YaHei UI"/>
                        </a:rPr>
                        <a:t/>
                      </a:r>
                    </a:p>
                  </a:txBody>
                  <a:tcPr anchor="ctr" marL="32004" marR="32004" marT="10972" marB="10972">
                    <a:solidFill>
                      <a:srgbClr val="EEF3F7"/>
                    </a:solidFill>
                    <a:lnL w="3000">
                      <a:solidFill>
                        <a:srgbClr val="C1CDD9"/>
                      </a:solidFill>
                    </a:lnL>
                    <a:lnR w="3000">
                      <a:solidFill>
                        <a:srgbClr val="C1CDD9"/>
                      </a:solidFill>
                    </a:lnR>
                    <a:lnT w="3000">
                      <a:solidFill>
                        <a:srgbClr val="C1CDD9"/>
                      </a:solidFill>
                    </a:lnT>
                    <a:lnB w="3000">
                      <a:solidFill>
                        <a:srgbClr val="C1CDD9"/>
                      </a:solidFill>
                    </a:lnB>
                  </a:tcPr>
                </a:tc>
              </a:tr>
              <a:tr h="409956"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35" b="1">
                          <a:solidFill>
                            <a:srgbClr val="0F5766"/>
                          </a:solidFill>
                          <a:latin typeface="Microsoft YaHei UI"/>
                        </a:rPr>
                        <a:t>地瓜+它石</a:t>
                      </a:r>
                    </a:p>
                    <a:p>
                      <a:pPr algn="ctr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35" b="1">
                          <a:solidFill>
                            <a:srgbClr val="0F5766"/>
                          </a:solidFill>
                          <a:latin typeface="Microsoft YaHei UI"/>
                        </a:rPr>
                        <a:t>D-Robotics</a:t>
                      </a:r>
                    </a:p>
                  </a:txBody>
                  <a:tcPr anchor="ctr" marL="32004" marR="32004" marT="10972" marB="10972">
                    <a:solidFill>
                      <a:srgbClr val="FFFFFF"/>
                    </a:solidFill>
                    <a:lnL w="3000">
                      <a:solidFill>
                        <a:srgbClr val="C1CDD9"/>
                      </a:solidFill>
                    </a:lnL>
                    <a:lnR w="3000">
                      <a:solidFill>
                        <a:srgbClr val="C1CDD9"/>
                      </a:solidFill>
                    </a:lnR>
                    <a:lnT w="3000">
                      <a:solidFill>
                        <a:srgbClr val="C1CDD9"/>
                      </a:solidFill>
                    </a:lnT>
                    <a:lnB w="3000">
                      <a:solidFill>
                        <a:srgbClr val="C1CDD9"/>
                      </a:solidFill>
                    </a:lnB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35" b="0">
                          <a:solidFill>
                            <a:srgbClr val="121B26"/>
                          </a:solidFill>
                          <a:latin typeface="Microsoft YaHei UI"/>
                        </a:rPr>
                        <a:t>S600适配3B</a:t>
                      </a:r>
                    </a:p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35" b="0">
                          <a:solidFill>
                            <a:srgbClr val="121B26"/>
                          </a:solidFill>
                          <a:latin typeface="Microsoft YaHei UI"/>
                        </a:rPr>
                        <a:t>具身大模型</a:t>
                      </a:r>
                    </a:p>
                  </a:txBody>
                  <a:tcPr anchor="ctr" marL="32004" marR="32004" marT="10972" marB="10972">
                    <a:solidFill>
                      <a:srgbClr val="FFFFFF"/>
                    </a:solidFill>
                    <a:lnL w="3000">
                      <a:solidFill>
                        <a:srgbClr val="C1CDD9"/>
                      </a:solidFill>
                    </a:lnL>
                    <a:lnR w="3000">
                      <a:solidFill>
                        <a:srgbClr val="C1CDD9"/>
                      </a:solidFill>
                    </a:lnR>
                    <a:lnT w="3000">
                      <a:solidFill>
                        <a:srgbClr val="C1CDD9"/>
                      </a:solidFill>
                    </a:lnT>
                    <a:lnB w="3000">
                      <a:solidFill>
                        <a:srgbClr val="C1CDD9"/>
                      </a:solidFill>
                    </a:lnB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35" b="0">
                          <a:solidFill>
                            <a:srgbClr val="121B26"/>
                          </a:solidFill>
                          <a:latin typeface="Microsoft YaHei UI"/>
                        </a:rPr>
                        <a:t>端侧具身模型适配</a:t>
                      </a:r>
                    </a:p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35" b="0">
                          <a:solidFill>
                            <a:srgbClr val="121B26"/>
                          </a:solidFill>
                          <a:latin typeface="Microsoft YaHei UI"/>
                        </a:rPr>
                        <a:t>算力平台</a:t>
                      </a:r>
                    </a:p>
                  </a:txBody>
                  <a:tcPr anchor="ctr" marL="32004" marR="32004" marT="10972" marB="10972">
                    <a:solidFill>
                      <a:srgbClr val="FFFFFF"/>
                    </a:solidFill>
                    <a:lnL w="3000">
                      <a:solidFill>
                        <a:srgbClr val="C1CDD9"/>
                      </a:solidFill>
                    </a:lnL>
                    <a:lnR w="3000">
                      <a:solidFill>
                        <a:srgbClr val="C1CDD9"/>
                      </a:solidFill>
                    </a:lnR>
                    <a:lnT w="3000">
                      <a:solidFill>
                        <a:srgbClr val="C1CDD9"/>
                      </a:solidFill>
                    </a:lnT>
                    <a:lnB w="3000">
                      <a:solidFill>
                        <a:srgbClr val="C1CDD9"/>
                      </a:solidFill>
                    </a:lnB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5" b="0">
                          <a:solidFill>
                            <a:srgbClr val="121B26"/>
                          </a:solidFill>
                          <a:latin typeface="Microsoft YaHei UI"/>
                        </a:rPr>
                        <a:t>3B模型</a:t>
                      </a:r>
                    </a:p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5" b="0">
                          <a:solidFill>
                            <a:srgbClr val="121B26"/>
                          </a:solidFill>
                          <a:latin typeface="Microsoft YaHei UI"/>
                        </a:rPr>
                        <a:t>5天真机部署</a:t>
                      </a:r>
                    </a:p>
                  </a:txBody>
                  <a:tcPr anchor="ctr" marL="32004" marR="32004" marT="10972" marB="10972">
                    <a:solidFill>
                      <a:srgbClr val="FFFFFF"/>
                    </a:solidFill>
                    <a:lnL w="3000">
                      <a:solidFill>
                        <a:srgbClr val="C1CDD9"/>
                      </a:solidFill>
                    </a:lnL>
                    <a:lnR w="3000">
                      <a:solidFill>
                        <a:srgbClr val="C1CDD9"/>
                      </a:solidFill>
                    </a:lnR>
                    <a:lnT w="3000">
                      <a:solidFill>
                        <a:srgbClr val="C1CDD9"/>
                      </a:solidFill>
                    </a:lnT>
                    <a:lnB w="3000">
                      <a:solidFill>
                        <a:srgbClr val="C1CDD9"/>
                      </a:solidFill>
                    </a:lnB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5" b="0">
                          <a:solidFill>
                            <a:srgbClr val="121B26"/>
                          </a:solidFill>
                          <a:latin typeface="Microsoft YaHei UI"/>
                        </a:rPr>
                        <a:t>560TOPS INT8</a:t>
                      </a:r>
                    </a:p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5" b="0">
                          <a:solidFill>
                            <a:srgbClr val="121B26"/>
                          </a:solidFill>
                          <a:latin typeface="Microsoft YaHei UI"/>
                        </a:rPr>
                        <a:t>32/64GB LPDDR5</a:t>
                      </a:r>
                    </a:p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5" b="0">
                          <a:solidFill>
                            <a:srgbClr val="121B26"/>
                          </a:solidFill>
                          <a:latin typeface="Microsoft YaHei UI"/>
                        </a:rPr>
                        <a:t>204.8GB/s</a:t>
                      </a:r>
                    </a:p>
                  </a:txBody>
                  <a:tcPr anchor="ctr" marL="32004" marR="32004" marT="10972" marB="10972">
                    <a:solidFill>
                      <a:srgbClr val="FFFFFF"/>
                    </a:solidFill>
                    <a:lnL w="3000">
                      <a:solidFill>
                        <a:srgbClr val="C1CDD9"/>
                      </a:solidFill>
                    </a:lnL>
                    <a:lnR w="3000">
                      <a:solidFill>
                        <a:srgbClr val="C1CDD9"/>
                      </a:solidFill>
                    </a:lnR>
                    <a:lnT w="3000">
                      <a:solidFill>
                        <a:srgbClr val="C1CDD9"/>
                      </a:solidFill>
                    </a:lnT>
                    <a:lnB w="3000">
                      <a:solidFill>
                        <a:srgbClr val="C1CDD9"/>
                      </a:solidFill>
                    </a:lnB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5" b="0">
                          <a:solidFill>
                            <a:srgbClr val="121B26"/>
                          </a:solidFill>
                          <a:latin typeface="Microsoft YaHei UI"/>
                        </a:rPr>
                        <a:t>端侧稳定运行</a:t>
                      </a:r>
                    </a:p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15" b="0">
                          <a:solidFill>
                            <a:srgbClr val="121B26"/>
                          </a:solidFill>
                          <a:latin typeface="Microsoft YaHei UI"/>
                        </a:rPr>
                        <a:t>Hz未给出</a:t>
                      </a:r>
                    </a:p>
                  </a:txBody>
                  <a:tcPr anchor="ctr" marL="32004" marR="32004" marT="10972" marB="10972">
                    <a:solidFill>
                      <a:srgbClr val="FFFFFF"/>
                    </a:solidFill>
                    <a:lnL w="3000">
                      <a:solidFill>
                        <a:srgbClr val="C1CDD9"/>
                      </a:solidFill>
                    </a:lnL>
                    <a:lnR w="3000">
                      <a:solidFill>
                        <a:srgbClr val="C1CDD9"/>
                      </a:solidFill>
                    </a:lnR>
                    <a:lnT w="3000">
                      <a:solidFill>
                        <a:srgbClr val="C1CDD9"/>
                      </a:solidFill>
                    </a:lnT>
                    <a:lnB w="3000">
                      <a:solidFill>
                        <a:srgbClr val="C1CDD9"/>
                      </a:solidFill>
                    </a:lnB>
                  </a:tcPr>
                </a:tc>
              </a:tr>
              <a:tr h="409956"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35" b="1">
                          <a:solidFill>
                            <a:srgbClr val="0F5766"/>
                          </a:solidFill>
                          <a:latin typeface="Microsoft YaHei UI"/>
                        </a:rPr>
                        <a:t>MiniCPM</a:t>
                      </a:r>
                    </a:p>
                    <a:p>
                      <a:pPr algn="ctr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35" b="1">
                          <a:solidFill>
                            <a:srgbClr val="0F5766"/>
                          </a:solidFill>
                          <a:latin typeface="Microsoft YaHei UI"/>
                        </a:rPr>
                        <a:t>Robot</a:t>
                      </a:r>
                    </a:p>
                  </a:txBody>
                  <a:tcPr anchor="ctr" marL="32004" marR="32004" marT="10972" marB="10972">
                    <a:solidFill>
                      <a:srgbClr val="EEF3F7"/>
                    </a:solidFill>
                    <a:lnL w="3000">
                      <a:solidFill>
                        <a:srgbClr val="C1CDD9"/>
                      </a:solidFill>
                    </a:lnL>
                    <a:lnR w="3000">
                      <a:solidFill>
                        <a:srgbClr val="C1CDD9"/>
                      </a:solidFill>
                    </a:lnR>
                    <a:lnT w="3000">
                      <a:solidFill>
                        <a:srgbClr val="C1CDD9"/>
                      </a:solidFill>
                    </a:lnT>
                    <a:lnB w="3000">
                      <a:solidFill>
                        <a:srgbClr val="C1CDD9"/>
                      </a:solidFill>
                    </a:lnB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35" b="0">
                          <a:solidFill>
                            <a:srgbClr val="121B26"/>
                          </a:solidFill>
                          <a:latin typeface="Microsoft YaHei UI"/>
                        </a:rPr>
                        <a:t>RobotManip</a:t>
                      </a:r>
                    </a:p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35" b="0">
                          <a:solidFill>
                            <a:srgbClr val="121B26"/>
                          </a:solidFill>
                          <a:latin typeface="Microsoft YaHei UI"/>
                        </a:rPr>
                        <a:t>RobotTrack</a:t>
                      </a:r>
                    </a:p>
                  </a:txBody>
                  <a:tcPr anchor="ctr" marL="32004" marR="32004" marT="10972" marB="10972">
                    <a:solidFill>
                      <a:srgbClr val="EEF3F7"/>
                    </a:solidFill>
                    <a:lnL w="3000">
                      <a:solidFill>
                        <a:srgbClr val="C1CDD9"/>
                      </a:solidFill>
                    </a:lnL>
                    <a:lnR w="3000">
                      <a:solidFill>
                        <a:srgbClr val="C1CDD9"/>
                      </a:solidFill>
                    </a:lnR>
                    <a:lnT w="3000">
                      <a:solidFill>
                        <a:srgbClr val="C1CDD9"/>
                      </a:solidFill>
                    </a:lnT>
                    <a:lnB w="3000">
                      <a:solidFill>
                        <a:srgbClr val="C1CDD9"/>
                      </a:solidFill>
                    </a:lnB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35" b="0">
                          <a:solidFill>
                            <a:srgbClr val="121B26"/>
                          </a:solidFill>
                          <a:latin typeface="Microsoft YaHei UI"/>
                        </a:rPr>
                        <a:t>操作VLA</a:t>
                      </a:r>
                    </a:p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35" b="0">
                          <a:solidFill>
                            <a:srgbClr val="121B26"/>
                          </a:solidFill>
                          <a:latin typeface="Microsoft YaHei UI"/>
                        </a:rPr>
                        <a:t>目标跟踪VLA</a:t>
                      </a:r>
                    </a:p>
                  </a:txBody>
                  <a:tcPr anchor="ctr" marL="32004" marR="32004" marT="10972" marB="10972">
                    <a:solidFill>
                      <a:srgbClr val="EEF3F7"/>
                    </a:solidFill>
                    <a:lnL w="3000">
                      <a:solidFill>
                        <a:srgbClr val="C1CDD9"/>
                      </a:solidFill>
                    </a:lnL>
                    <a:lnR w="3000">
                      <a:solidFill>
                        <a:srgbClr val="C1CDD9"/>
                      </a:solidFill>
                    </a:lnR>
                    <a:lnT w="3000">
                      <a:solidFill>
                        <a:srgbClr val="C1CDD9"/>
                      </a:solidFill>
                    </a:lnT>
                    <a:lnB w="3000">
                      <a:solidFill>
                        <a:srgbClr val="C1CDD9"/>
                      </a:solidFill>
                    </a:lnB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84" b="0">
                          <a:solidFill>
                            <a:srgbClr val="121B26"/>
                          </a:solidFill>
                          <a:latin typeface="Microsoft YaHei UI"/>
                        </a:rPr>
                        <a:t>Manip 1.5B</a:t>
                      </a:r>
                    </a:p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84" b="0">
                          <a:solidFill>
                            <a:srgbClr val="121B26"/>
                          </a:solidFill>
                          <a:latin typeface="Microsoft YaHei UI"/>
                        </a:rPr>
                        <a:t>Track 0.9B</a:t>
                      </a:r>
                    </a:p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84" b="0">
                          <a:solidFill>
                            <a:srgbClr val="121B26"/>
                          </a:solidFill>
                          <a:latin typeface="Microsoft YaHei UI"/>
                        </a:rPr>
                        <a:t>125→3.3 TFLOPs/步</a:t>
                      </a:r>
                    </a:p>
                  </a:txBody>
                  <a:tcPr anchor="ctr" marL="32004" marR="32004" marT="10972" marB="10972">
                    <a:solidFill>
                      <a:srgbClr val="EEF3F7"/>
                    </a:solidFill>
                    <a:lnL w="3000">
                      <a:solidFill>
                        <a:srgbClr val="C1CDD9"/>
                      </a:solidFill>
                    </a:lnL>
                    <a:lnR w="3000">
                      <a:solidFill>
                        <a:srgbClr val="C1CDD9"/>
                      </a:solidFill>
                    </a:lnR>
                    <a:lnT w="3000">
                      <a:solidFill>
                        <a:srgbClr val="C1CDD9"/>
                      </a:solidFill>
                    </a:lnT>
                    <a:lnB w="3000">
                      <a:solidFill>
                        <a:srgbClr val="C1CDD9"/>
                      </a:solidFill>
                    </a:lnB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84" b="0">
                          <a:solidFill>
                            <a:srgbClr val="121B26"/>
                          </a:solidFill>
                          <a:latin typeface="Microsoft YaHei UI"/>
                        </a:rPr>
                        <a:t>H100 BF16</a:t>
                      </a:r>
                    </a:p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84" b="0">
                          <a:solidFill>
                            <a:srgbClr val="121B26"/>
                          </a:solidFill>
                          <a:latin typeface="Microsoft YaHei UI"/>
                        </a:rPr>
                        <a:t>H20优化</a:t>
                      </a:r>
                    </a:p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84" b="0">
                          <a:solidFill>
                            <a:srgbClr val="121B26"/>
                          </a:solidFill>
                          <a:latin typeface="Microsoft YaHei UI"/>
                        </a:rPr>
                        <a:t>Jetson Orin NX 16GB</a:t>
                      </a:r>
                    </a:p>
                  </a:txBody>
                  <a:tcPr anchor="ctr" marL="32004" marR="32004" marT="10972" marB="10972">
                    <a:solidFill>
                      <a:srgbClr val="EEF3F7"/>
                    </a:solidFill>
                    <a:lnL w="3000">
                      <a:solidFill>
                        <a:srgbClr val="C1CDD9"/>
                      </a:solidFill>
                    </a:lnL>
                    <a:lnR w="3000">
                      <a:solidFill>
                        <a:srgbClr val="C1CDD9"/>
                      </a:solidFill>
                    </a:lnR>
                    <a:lnT w="3000">
                      <a:solidFill>
                        <a:srgbClr val="C1CDD9"/>
                      </a:solidFill>
                    </a:lnT>
                    <a:lnB w="3000">
                      <a:solidFill>
                        <a:srgbClr val="C1CDD9"/>
                      </a:solidFill>
                    </a:lnB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84" b="0">
                          <a:solidFill>
                            <a:srgbClr val="121B26"/>
                          </a:solidFill>
                          <a:latin typeface="Microsoft YaHei UI"/>
                        </a:rPr>
                        <a:t>H100 120ms</a:t>
                      </a:r>
                    </a:p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84" b="0">
                          <a:solidFill>
                            <a:srgbClr val="121B26"/>
                          </a:solidFill>
                          <a:latin typeface="Microsoft YaHei UI"/>
                        </a:rPr>
                        <a:t>H20 10→37Hz</a:t>
                      </a:r>
                    </a:p>
                    <a:p>
                      <a:pPr algn="l">
                        <a:lnSpc>
                          <a:spcPct val="8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84" b="0">
                          <a:solidFill>
                            <a:srgbClr val="121B26"/>
                          </a:solidFill>
                          <a:latin typeface="Microsoft YaHei UI"/>
                        </a:rPr>
                        <a:t>Go2 5+FPS/180ms</a:t>
                      </a:r>
                    </a:p>
                  </a:txBody>
                  <a:tcPr anchor="ctr" marL="32004" marR="32004" marT="10972" marB="10972">
                    <a:solidFill>
                      <a:srgbClr val="EEF3F7"/>
                    </a:solidFill>
                    <a:lnL w="3000">
                      <a:solidFill>
                        <a:srgbClr val="C1CDD9"/>
                      </a:solidFill>
                    </a:lnL>
                    <a:lnR w="3000">
                      <a:solidFill>
                        <a:srgbClr val="C1CDD9"/>
                      </a:solidFill>
                    </a:lnR>
                    <a:lnT w="3000">
                      <a:solidFill>
                        <a:srgbClr val="C1CDD9"/>
                      </a:solidFill>
                    </a:lnT>
                    <a:lnB w="3000">
                      <a:solidFill>
                        <a:srgbClr val="C1CDD9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01168" y="5989320"/>
            <a:ext cx="11795760" cy="640080"/>
          </a:xfrm>
          <a:prstGeom prst="rect">
            <a:avLst/>
          </a:prstGeom>
          <a:solidFill>
            <a:srgbClr val="E7EEF3"/>
          </a:solidFill>
          <a:ln>
            <a:solidFill>
              <a:srgbClr val="CD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84048" y="6144768"/>
            <a:ext cx="228600" cy="228600"/>
          </a:xfrm>
          <a:prstGeom prst="ellipse">
            <a:avLst/>
          </a:prstGeom>
          <a:solidFill>
            <a:srgbClr val="0F5766"/>
          </a:solidFill>
          <a:ln>
            <a:solidFill>
              <a:srgbClr val="0F57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1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6080760"/>
            <a:ext cx="525780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0"/>
              </a:spcAft>
            </a:pPr>
            <a:r>
              <a:rPr sz="625" b="1">
                <a:solidFill>
                  <a:srgbClr val="121B26"/>
                </a:solidFill>
                <a:latin typeface="Microsoft YaHei UI"/>
              </a:rPr>
              <a:t>有硬数据的“大脑”样本仍很少：蚂蚁灵波、MiniCPM、优必选、智元/星海图端侧算力、地瓜S600最适合上台讲量化对比。</a:t>
            </a:r>
          </a:p>
        </p:txBody>
      </p:sp>
      <p:sp>
        <p:nvSpPr>
          <p:cNvPr id="9" name="Oval 8"/>
          <p:cNvSpPr/>
          <p:nvPr/>
        </p:nvSpPr>
        <p:spPr>
          <a:xfrm>
            <a:off x="6190488" y="6144768"/>
            <a:ext cx="228600" cy="228600"/>
          </a:xfrm>
          <a:prstGeom prst="ellipse">
            <a:avLst/>
          </a:prstGeom>
          <a:solidFill>
            <a:srgbClr val="C75B26"/>
          </a:solidFill>
          <a:ln>
            <a:solidFill>
              <a:srgbClr val="C75B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1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1383" y="6080760"/>
            <a:ext cx="525780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0"/>
              </a:spcAft>
            </a:pPr>
            <a:r>
              <a:rPr sz="625" b="1">
                <a:solidFill>
                  <a:srgbClr val="121B26"/>
                </a:solidFill>
                <a:latin typeface="Microsoft YaHei UI"/>
              </a:rPr>
              <a:t>路线正在分化：VLA负责感知到动作，世界模型/WAM负责物理预测与长时序规划；真正门槛是端侧显存、TOPS与Hz。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" y="6647688"/>
            <a:ext cx="11338560" cy="1097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0"/>
              </a:spcAft>
            </a:pPr>
            <a:r>
              <a:rPr sz="470" b="0">
                <a:solidFill>
                  <a:srgbClr val="566372"/>
                </a:solidFill>
                <a:latin typeface="Microsoft YaHei UI"/>
              </a:rPr>
              <a:t>* 星海图 Nexo 700TOPS 为WRC会场口径，当前报告标注为待公开链接交叉验证。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